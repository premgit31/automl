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8391EA4-35B8-440F-80FE-0CD1029DDEB0}">
  <a:tblStyle styleId="{58391EA4-35B8-440F-80FE-0CD1029DDEB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80" name="Google Shape;80;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90" name="Google Shape;9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02" name="Google Shape;102;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13" name="Google Shape;11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23" name="Google Shape;12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da2a6b073c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34" name="Google Shape;134;g3da2a6b073c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50" name="Google Shape;15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da2a6b073c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60" name="Google Shape;160;g3da2a6b073c_0_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7b0fc6652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71" name="Google Shape;171;g3e7b0fc6652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dc4af6174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82" name="Google Shape;182;g3dc4af6174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d201e52d6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94" name="Google Shape;194;g3d201e52d6f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06" name="Google Shape;206;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17" name="Google Shape;217;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4" name="Google Shape;2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 name="Shape 27"/>
        <p:cNvGrpSpPr/>
        <p:nvPr/>
      </p:nvGrpSpPr>
      <p:grpSpPr>
        <a:xfrm>
          <a:off x="0" y="0"/>
          <a:ext cx="0" cy="0"/>
          <a:chOff x="0" y="0"/>
          <a:chExt cx="0" cy="0"/>
        </a:xfrm>
      </p:grpSpPr>
      <p:sp>
        <p:nvSpPr>
          <p:cNvPr id="28" name="Google Shape;28;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32" name="Google Shape;32;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33" name="Google Shape;33;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4" name="Shape 34"/>
        <p:cNvGrpSpPr/>
        <p:nvPr/>
      </p:nvGrpSpPr>
      <p:grpSpPr>
        <a:xfrm>
          <a:off x="0" y="0"/>
          <a:ext cx="0" cy="0"/>
          <a:chOff x="0" y="0"/>
          <a:chExt cx="0" cy="0"/>
        </a:xfrm>
      </p:grpSpPr>
      <p:sp>
        <p:nvSpPr>
          <p:cNvPr id="35" name="Google Shape;35;p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7" name="Google Shape;37;p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41" name="Google Shape;41;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42" name="Google Shape;42;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46" name="Google Shape;46;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47" name="Google Shape;47;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50" name="Google Shape;50;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51" name="Google Shape;51;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2" name="Shape 52"/>
        <p:cNvGrpSpPr/>
        <p:nvPr/>
      </p:nvGrpSpPr>
      <p:grpSpPr>
        <a:xfrm>
          <a:off x="0" y="0"/>
          <a:ext cx="0" cy="0"/>
          <a:chOff x="0" y="0"/>
          <a:chExt cx="0" cy="0"/>
        </a:xfrm>
      </p:grpSpPr>
      <p:sp>
        <p:nvSpPr>
          <p:cNvPr id="53" name="Google Shape;53;p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5" name="Google Shape;55;p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6" name="Google Shape;56;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57" name="Google Shape;57;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58" name="Google Shape;58;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9" name="Shape 59"/>
        <p:cNvGrpSpPr/>
        <p:nvPr/>
      </p:nvGrpSpPr>
      <p:grpSpPr>
        <a:xfrm>
          <a:off x="0" y="0"/>
          <a:ext cx="0" cy="0"/>
          <a:chOff x="0" y="0"/>
          <a:chExt cx="0" cy="0"/>
        </a:xfrm>
      </p:grpSpPr>
      <p:sp>
        <p:nvSpPr>
          <p:cNvPr id="60" name="Google Shape;60;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9"/>
          <p:cNvSpPr/>
          <p:nvPr>
            <p:ph idx="2" type="pic"/>
          </p:nvPr>
        </p:nvSpPr>
        <p:spPr>
          <a:xfrm>
            <a:off x="5183188" y="987425"/>
            <a:ext cx="6172200" cy="4873625"/>
          </a:xfrm>
          <a:prstGeom prst="rect">
            <a:avLst/>
          </a:prstGeom>
          <a:noFill/>
          <a:ln>
            <a:noFill/>
          </a:ln>
        </p:spPr>
      </p:sp>
      <p:sp>
        <p:nvSpPr>
          <p:cNvPr id="62" name="Google Shape;62;p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64" name="Google Shape;64;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65" name="Google Shape;65;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6" name="Shape 66"/>
        <p:cNvGrpSpPr/>
        <p:nvPr/>
      </p:nvGrpSpPr>
      <p:grpSpPr>
        <a:xfrm>
          <a:off x="0" y="0"/>
          <a:ext cx="0" cy="0"/>
          <a:chOff x="0" y="0"/>
          <a:chExt cx="0" cy="0"/>
        </a:xfrm>
      </p:grpSpPr>
      <p:sp>
        <p:nvSpPr>
          <p:cNvPr id="67" name="Google Shape;67;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2" name="Shape 72"/>
        <p:cNvGrpSpPr/>
        <p:nvPr/>
      </p:nvGrpSpPr>
      <p:grpSpPr>
        <a:xfrm>
          <a:off x="0" y="0"/>
          <a:ext cx="0" cy="0"/>
          <a:chOff x="0" y="0"/>
          <a:chExt cx="0" cy="0"/>
        </a:xfrm>
      </p:grpSpPr>
      <p:sp>
        <p:nvSpPr>
          <p:cNvPr id="73" name="Google Shape;73;p1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88888"/>
              </a:buClr>
              <a:buSzPts val="1400"/>
              <a:buFont typeface="Calibri"/>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888888"/>
              </a:buClr>
              <a:buSzPts val="1400"/>
              <a:buFont typeface="Calibri"/>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6.png"/><Relationship Id="rId11" Type="http://schemas.openxmlformats.org/officeDocument/2006/relationships/image" Target="../media/image11.png"/><Relationship Id="rId10" Type="http://schemas.openxmlformats.org/officeDocument/2006/relationships/image" Target="../media/image16.png"/><Relationship Id="rId12" Type="http://schemas.openxmlformats.org/officeDocument/2006/relationships/image" Target="../media/image12.png"/><Relationship Id="rId9" Type="http://schemas.openxmlformats.org/officeDocument/2006/relationships/image" Target="../media/image10.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hyperlink" Target="https://docs.google.com/spreadsheets/d/1MUUpS64sf2rnp07iBJgUQPzNiMzazRbCKnqUYN1BfAo/edit?usp=sharing" TargetMode="External"/><Relationship Id="rId8"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pic>
        <p:nvPicPr>
          <p:cNvPr id="82" name="Google Shape;82;p12"/>
          <p:cNvPicPr preferRelativeResize="0"/>
          <p:nvPr/>
        </p:nvPicPr>
        <p:blipFill rotWithShape="1">
          <a:blip r:embed="rId3">
            <a:alphaModFix/>
          </a:blip>
          <a:srcRect b="0" l="0" r="0" t="0"/>
          <a:stretch/>
        </p:blipFill>
        <p:spPr>
          <a:xfrm>
            <a:off x="600" y="-20450"/>
            <a:ext cx="566975" cy="6878452"/>
          </a:xfrm>
          <a:prstGeom prst="rect">
            <a:avLst/>
          </a:prstGeom>
          <a:noFill/>
          <a:ln>
            <a:noFill/>
          </a:ln>
        </p:spPr>
      </p:pic>
      <p:pic>
        <p:nvPicPr>
          <p:cNvPr id="83" name="Google Shape;83;p12"/>
          <p:cNvPicPr preferRelativeResize="0"/>
          <p:nvPr/>
        </p:nvPicPr>
        <p:blipFill rotWithShape="1">
          <a:blip r:embed="rId4">
            <a:alphaModFix/>
          </a:blip>
          <a:srcRect b="0" l="0" r="0" t="0"/>
          <a:stretch/>
        </p:blipFill>
        <p:spPr>
          <a:xfrm>
            <a:off x="1089950" y="-20450"/>
            <a:ext cx="209675" cy="5461124"/>
          </a:xfrm>
          <a:prstGeom prst="rect">
            <a:avLst/>
          </a:prstGeom>
          <a:noFill/>
          <a:ln>
            <a:noFill/>
          </a:ln>
        </p:spPr>
      </p:pic>
      <p:pic>
        <p:nvPicPr>
          <p:cNvPr id="84" name="Google Shape;84;p12"/>
          <p:cNvPicPr preferRelativeResize="0"/>
          <p:nvPr/>
        </p:nvPicPr>
        <p:blipFill rotWithShape="1">
          <a:blip r:embed="rId5">
            <a:alphaModFix/>
          </a:blip>
          <a:srcRect b="0" l="0" r="0" t="0"/>
          <a:stretch/>
        </p:blipFill>
        <p:spPr>
          <a:xfrm>
            <a:off x="531389" y="-20457"/>
            <a:ext cx="566958" cy="5461138"/>
          </a:xfrm>
          <a:prstGeom prst="rect">
            <a:avLst/>
          </a:prstGeom>
          <a:noFill/>
          <a:ln>
            <a:noFill/>
          </a:ln>
        </p:spPr>
      </p:pic>
      <p:sp>
        <p:nvSpPr>
          <p:cNvPr id="85" name="Google Shape;85;p12"/>
          <p:cNvSpPr txBox="1"/>
          <p:nvPr>
            <p:ph type="ctrTitle"/>
          </p:nvPr>
        </p:nvSpPr>
        <p:spPr>
          <a:xfrm>
            <a:off x="8257406" y="2740265"/>
            <a:ext cx="3733500" cy="2331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endParaRPr sz="2400">
              <a:solidFill>
                <a:srgbClr val="C00000"/>
              </a:solidFill>
            </a:endParaRPr>
          </a:p>
        </p:txBody>
      </p:sp>
      <p:sp>
        <p:nvSpPr>
          <p:cNvPr id="86" name="Google Shape;86;p12"/>
          <p:cNvSpPr txBox="1"/>
          <p:nvPr/>
        </p:nvSpPr>
        <p:spPr>
          <a:xfrm>
            <a:off x="1451072" y="981344"/>
            <a:ext cx="10904400" cy="5000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IN" sz="2400" u="none" cap="none" strike="noStrike">
                <a:solidFill>
                  <a:srgbClr val="C00000"/>
                </a:solidFill>
                <a:latin typeface="Times New Roman"/>
                <a:ea typeface="Times New Roman"/>
                <a:cs typeface="Times New Roman"/>
                <a:sym typeface="Times New Roman"/>
              </a:rPr>
              <a:t>Department of Artificial Intelligence &amp; Data Science</a:t>
            </a:r>
            <a:endParaRPr b="1" i="0" sz="1800" u="none" cap="none" strike="noStrike">
              <a:solidFill>
                <a:srgbClr val="C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Times New Roman"/>
                <a:ea typeface="Times New Roman"/>
                <a:cs typeface="Times New Roman"/>
                <a:sym typeface="Times New Roman"/>
              </a:rPr>
              <a:t> </a:t>
            </a:r>
            <a:endParaRPr b="1" i="0" sz="1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000"/>
              <a:buFont typeface="Arial"/>
              <a:buNone/>
            </a:pPr>
            <a:r>
              <a:rPr b="1" i="0" lang="en-IN" sz="2000" u="none" cap="none" strike="noStrike">
                <a:solidFill>
                  <a:srgbClr val="C00000"/>
                </a:solidFill>
                <a:latin typeface="Times New Roman"/>
                <a:ea typeface="Times New Roman"/>
                <a:cs typeface="Times New Roman"/>
                <a:sym typeface="Times New Roman"/>
              </a:rPr>
              <a:t>Academic Year 202</a:t>
            </a:r>
            <a:r>
              <a:rPr b="1" lang="en-IN" sz="2000">
                <a:solidFill>
                  <a:srgbClr val="C00000"/>
                </a:solidFill>
                <a:latin typeface="Times New Roman"/>
                <a:ea typeface="Times New Roman"/>
                <a:cs typeface="Times New Roman"/>
                <a:sym typeface="Times New Roman"/>
              </a:rPr>
              <a:t>6</a:t>
            </a:r>
            <a:r>
              <a:rPr b="1" i="0" lang="en-IN" sz="2000" u="none" cap="none" strike="noStrike">
                <a:solidFill>
                  <a:srgbClr val="C00000"/>
                </a:solidFill>
                <a:latin typeface="Times New Roman"/>
                <a:ea typeface="Times New Roman"/>
                <a:cs typeface="Times New Roman"/>
                <a:sym typeface="Times New Roman"/>
              </a:rPr>
              <a:t>-2</a:t>
            </a:r>
            <a:r>
              <a:rPr b="1" lang="en-IN" sz="2000">
                <a:solidFill>
                  <a:srgbClr val="C00000"/>
                </a:solidFill>
                <a:latin typeface="Times New Roman"/>
                <a:ea typeface="Times New Roman"/>
                <a:cs typeface="Times New Roman"/>
                <a:sym typeface="Times New Roman"/>
              </a:rPr>
              <a:t>7</a:t>
            </a:r>
            <a:r>
              <a:rPr b="1" i="0" lang="en-IN" sz="2000" u="none" cap="none" strike="noStrike">
                <a:solidFill>
                  <a:srgbClr val="C00000"/>
                </a:solidFill>
                <a:latin typeface="Times New Roman"/>
                <a:ea typeface="Times New Roman"/>
                <a:cs typeface="Times New Roman"/>
                <a:sym typeface="Times New Roman"/>
              </a:rPr>
              <a:t> </a:t>
            </a:r>
            <a:endParaRPr b="1" i="0" sz="2000" u="none" cap="none" strike="noStrike">
              <a:solidFill>
                <a:srgbClr val="C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0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n-IN" sz="3800">
                <a:solidFill>
                  <a:schemeClr val="dk1"/>
                </a:solidFill>
                <a:latin typeface="Times New Roman"/>
                <a:ea typeface="Times New Roman"/>
                <a:cs typeface="Times New Roman"/>
                <a:sym typeface="Times New Roman"/>
              </a:rPr>
              <a:t>Web App for Exploratory Data Analysis and ML Workflows</a:t>
            </a:r>
            <a:endParaRPr b="1" sz="3800">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lang="en-IN" sz="3000">
                <a:solidFill>
                  <a:srgbClr val="FF0000"/>
                </a:solidFill>
                <a:latin typeface="Times New Roman"/>
                <a:ea typeface="Times New Roman"/>
                <a:cs typeface="Times New Roman"/>
                <a:sym typeface="Times New Roman"/>
              </a:rPr>
              <a:t>LY Project Presentation</a:t>
            </a:r>
            <a:endParaRPr b="0" i="0" sz="3000" u="none" cap="none" strike="noStrike">
              <a:solidFill>
                <a:srgbClr val="FF0000"/>
              </a:solidFill>
              <a:latin typeface="Times New Roman"/>
              <a:ea typeface="Times New Roman"/>
              <a:cs typeface="Times New Roman"/>
              <a:sym typeface="Times New Roman"/>
            </a:endParaRPr>
          </a:p>
          <a:p>
            <a:pPr indent="0" lvl="0" marL="0" rtl="0" algn="ctr">
              <a:spcBef>
                <a:spcPts val="0"/>
              </a:spcBef>
              <a:spcAft>
                <a:spcPts val="0"/>
              </a:spcAft>
              <a:buClr>
                <a:schemeClr val="dk1"/>
              </a:buClr>
              <a:buFont typeface="Arial"/>
              <a:buNone/>
            </a:pPr>
            <a:r>
              <a:t/>
            </a:r>
            <a:endParaRPr sz="2000">
              <a:solidFill>
                <a:srgbClr val="FF0000"/>
              </a:solidFill>
              <a:latin typeface="Times New Roman"/>
              <a:ea typeface="Times New Roman"/>
              <a:cs typeface="Times New Roman"/>
              <a:sym typeface="Times New Roman"/>
            </a:endParaRPr>
          </a:p>
          <a:p>
            <a:pPr indent="0" lvl="0" marL="0" rtl="0" algn="ctr">
              <a:spcBef>
                <a:spcPts val="0"/>
              </a:spcBef>
              <a:spcAft>
                <a:spcPts val="0"/>
              </a:spcAft>
              <a:buClr>
                <a:schemeClr val="dk1"/>
              </a:buClr>
              <a:buFont typeface="Arial"/>
              <a:buNone/>
            </a:pPr>
            <a:r>
              <a:rPr b="1" lang="en-IN" sz="2400">
                <a:solidFill>
                  <a:schemeClr val="dk1"/>
                </a:solidFill>
                <a:latin typeface="Times New Roman"/>
                <a:ea typeface="Times New Roman"/>
                <a:cs typeface="Times New Roman"/>
                <a:sym typeface="Times New Roman"/>
              </a:rPr>
              <a:t>Group No. 23</a:t>
            </a:r>
            <a:endParaRPr b="1" sz="2400">
              <a:solidFill>
                <a:schemeClr val="dk1"/>
              </a:solidFill>
              <a:latin typeface="Times New Roman"/>
              <a:ea typeface="Times New Roman"/>
              <a:cs typeface="Times New Roman"/>
              <a:sym typeface="Times New Roman"/>
            </a:endParaRPr>
          </a:p>
          <a:p>
            <a:pPr indent="0" lvl="0" marL="0" rtl="0" algn="ctr">
              <a:spcBef>
                <a:spcPts val="0"/>
              </a:spcBef>
              <a:spcAft>
                <a:spcPts val="0"/>
              </a:spcAft>
              <a:buClr>
                <a:schemeClr val="dk1"/>
              </a:buClr>
              <a:buFont typeface="Arial"/>
              <a:buNone/>
            </a:pPr>
            <a:r>
              <a:rPr lang="en-IN" sz="2500">
                <a:solidFill>
                  <a:schemeClr val="dk1"/>
                </a:solidFill>
                <a:latin typeface="Times New Roman"/>
                <a:ea typeface="Times New Roman"/>
                <a:cs typeface="Times New Roman"/>
                <a:sym typeface="Times New Roman"/>
              </a:rPr>
              <a:t>Khushi Nandha - 9 [B]</a:t>
            </a:r>
            <a:endParaRPr sz="2500">
              <a:solidFill>
                <a:schemeClr val="dk1"/>
              </a:solidFill>
              <a:latin typeface="Times New Roman"/>
              <a:ea typeface="Times New Roman"/>
              <a:cs typeface="Times New Roman"/>
              <a:sym typeface="Times New Roman"/>
            </a:endParaRPr>
          </a:p>
          <a:p>
            <a:pPr indent="0" lvl="0" marL="0" rtl="0" algn="ctr">
              <a:spcBef>
                <a:spcPts val="0"/>
              </a:spcBef>
              <a:spcAft>
                <a:spcPts val="0"/>
              </a:spcAft>
              <a:buClr>
                <a:schemeClr val="dk1"/>
              </a:buClr>
              <a:buFont typeface="Arial"/>
              <a:buNone/>
            </a:pPr>
            <a:r>
              <a:rPr lang="en-IN" sz="2500">
                <a:solidFill>
                  <a:schemeClr val="dk1"/>
                </a:solidFill>
                <a:latin typeface="Times New Roman"/>
                <a:ea typeface="Times New Roman"/>
                <a:cs typeface="Times New Roman"/>
                <a:sym typeface="Times New Roman"/>
              </a:rPr>
              <a:t>Swaroop Pawar - 24 [B]</a:t>
            </a:r>
            <a:endParaRPr sz="2500">
              <a:solidFill>
                <a:schemeClr val="dk1"/>
              </a:solidFill>
              <a:latin typeface="Times New Roman"/>
              <a:ea typeface="Times New Roman"/>
              <a:cs typeface="Times New Roman"/>
              <a:sym typeface="Times New Roman"/>
            </a:endParaRPr>
          </a:p>
          <a:p>
            <a:pPr indent="0" lvl="0" marL="0" rtl="0" algn="ctr">
              <a:spcBef>
                <a:spcPts val="0"/>
              </a:spcBef>
              <a:spcAft>
                <a:spcPts val="0"/>
              </a:spcAft>
              <a:buClr>
                <a:schemeClr val="dk1"/>
              </a:buClr>
              <a:buFont typeface="Arial"/>
              <a:buNone/>
            </a:pPr>
            <a:r>
              <a:rPr lang="en-IN" sz="2500">
                <a:solidFill>
                  <a:schemeClr val="dk1"/>
                </a:solidFill>
                <a:latin typeface="Times New Roman"/>
                <a:ea typeface="Times New Roman"/>
                <a:cs typeface="Times New Roman"/>
                <a:sym typeface="Times New Roman"/>
              </a:rPr>
              <a:t>Prem Shirsathe - 33 [B]</a:t>
            </a:r>
            <a:endParaRPr sz="25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2000">
              <a:solidFill>
                <a:srgbClr val="FF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None/>
            </a:pPr>
            <a:r>
              <a:rPr b="0" i="0" lang="en-IN" sz="2400" u="none" cap="none" strike="noStrike">
                <a:solidFill>
                  <a:schemeClr val="dk1"/>
                </a:solidFill>
                <a:latin typeface="Times New Roman"/>
                <a:ea typeface="Times New Roman"/>
                <a:cs typeface="Times New Roman"/>
                <a:sym typeface="Times New Roman"/>
              </a:rPr>
              <a:t>Guide: Prof. Panka</a:t>
            </a:r>
            <a:r>
              <a:rPr lang="en-IN" sz="2400">
                <a:solidFill>
                  <a:schemeClr val="dk1"/>
                </a:solidFill>
                <a:latin typeface="Times New Roman"/>
                <a:ea typeface="Times New Roman"/>
                <a:cs typeface="Times New Roman"/>
                <a:sym typeface="Times New Roman"/>
              </a:rPr>
              <a:t>j Deshmukh</a:t>
            </a:r>
            <a:r>
              <a:rPr b="0" i="0" lang="en-IN" sz="2000" u="none" cap="none" strike="noStrike">
                <a:solidFill>
                  <a:schemeClr val="dk1"/>
                </a:solidFill>
                <a:latin typeface="Times New Roman"/>
                <a:ea typeface="Times New Roman"/>
                <a:cs typeface="Times New Roman"/>
                <a:sym typeface="Times New Roman"/>
              </a:rPr>
              <a:t> </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1" i="0" sz="18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052358"/>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rgbClr val="052358"/>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6E3F0C"/>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700"/>
              <a:buFont typeface="Arial"/>
              <a:buNone/>
            </a:pPr>
            <a:r>
              <a:rPr b="1" i="0" lang="en-IN" sz="1700" u="none" cap="none" strike="noStrike">
                <a:solidFill>
                  <a:srgbClr val="C00000"/>
                </a:solidFill>
                <a:latin typeface="Times New Roman"/>
                <a:ea typeface="Times New Roman"/>
                <a:cs typeface="Times New Roman"/>
                <a:sym typeface="Times New Roman"/>
              </a:rPr>
              <a:t>     						</a:t>
            </a:r>
            <a:r>
              <a:rPr b="0" i="0" lang="en-IN" sz="1700" u="none" cap="none" strike="noStrike">
                <a:solidFill>
                  <a:srgbClr val="000000"/>
                </a:solidFill>
                <a:latin typeface="Times New Roman"/>
                <a:ea typeface="Times New Roman"/>
                <a:cs typeface="Times New Roman"/>
                <a:sym typeface="Times New Roman"/>
              </a:rPr>
              <a:t>			               </a:t>
            </a:r>
            <a:endParaRPr b="0" i="0" sz="11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900"/>
              <a:buFont typeface="Arial"/>
              <a:buNone/>
            </a:pPr>
            <a:r>
              <a:t/>
            </a:r>
            <a:endParaRPr b="0" i="0" sz="2900" u="none" cap="none" strike="noStrike">
              <a:solidFill>
                <a:srgbClr val="C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900"/>
              <a:buFont typeface="Arial"/>
              <a:buNone/>
            </a:pPr>
            <a:r>
              <a:t/>
            </a:r>
            <a:endParaRPr b="0" i="0" sz="2900" u="none" cap="none" strike="noStrike">
              <a:solidFill>
                <a:srgbClr val="C00000"/>
              </a:solidFill>
              <a:latin typeface="Times New Roman"/>
              <a:ea typeface="Times New Roman"/>
              <a:cs typeface="Times New Roman"/>
              <a:sym typeface="Times New Roman"/>
            </a:endParaRPr>
          </a:p>
        </p:txBody>
      </p:sp>
      <p:pic>
        <p:nvPicPr>
          <p:cNvPr id="87" name="Google Shape;87;p12"/>
          <p:cNvPicPr preferRelativeResize="0"/>
          <p:nvPr/>
        </p:nvPicPr>
        <p:blipFill rotWithShape="1">
          <a:blip r:embed="rId6">
            <a:alphaModFix/>
          </a:blip>
          <a:srcRect b="0" l="0" r="3663" t="0"/>
          <a:stretch/>
        </p:blipFill>
        <p:spPr>
          <a:xfrm>
            <a:off x="1385889" y="0"/>
            <a:ext cx="2576512" cy="91968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3"/>
          <p:cNvPicPr preferRelativeResize="0"/>
          <p:nvPr/>
        </p:nvPicPr>
        <p:blipFill rotWithShape="1">
          <a:blip r:embed="rId3">
            <a:alphaModFix/>
          </a:blip>
          <a:srcRect b="0" l="0" r="0" t="0"/>
          <a:stretch/>
        </p:blipFill>
        <p:spPr>
          <a:xfrm>
            <a:off x="600" y="-20450"/>
            <a:ext cx="566975" cy="6878452"/>
          </a:xfrm>
          <a:prstGeom prst="rect">
            <a:avLst/>
          </a:prstGeom>
          <a:noFill/>
          <a:ln>
            <a:noFill/>
          </a:ln>
        </p:spPr>
      </p:pic>
      <p:pic>
        <p:nvPicPr>
          <p:cNvPr id="93" name="Google Shape;93;p13"/>
          <p:cNvPicPr preferRelativeResize="0"/>
          <p:nvPr/>
        </p:nvPicPr>
        <p:blipFill rotWithShape="1">
          <a:blip r:embed="rId4">
            <a:alphaModFix/>
          </a:blip>
          <a:srcRect b="0" l="0" r="0" t="0"/>
          <a:stretch/>
        </p:blipFill>
        <p:spPr>
          <a:xfrm>
            <a:off x="1089950" y="-20450"/>
            <a:ext cx="209675" cy="5461124"/>
          </a:xfrm>
          <a:prstGeom prst="rect">
            <a:avLst/>
          </a:prstGeom>
          <a:noFill/>
          <a:ln>
            <a:noFill/>
          </a:ln>
        </p:spPr>
      </p:pic>
      <p:pic>
        <p:nvPicPr>
          <p:cNvPr id="94" name="Google Shape;94;p13"/>
          <p:cNvPicPr preferRelativeResize="0"/>
          <p:nvPr/>
        </p:nvPicPr>
        <p:blipFill rotWithShape="1">
          <a:blip r:embed="rId5">
            <a:alphaModFix/>
          </a:blip>
          <a:srcRect b="0" l="0" r="0" t="0"/>
          <a:stretch/>
        </p:blipFill>
        <p:spPr>
          <a:xfrm>
            <a:off x="531389" y="-20457"/>
            <a:ext cx="566958" cy="5461138"/>
          </a:xfrm>
          <a:prstGeom prst="rect">
            <a:avLst/>
          </a:prstGeom>
          <a:noFill/>
          <a:ln>
            <a:noFill/>
          </a:ln>
        </p:spPr>
      </p:pic>
      <p:sp>
        <p:nvSpPr>
          <p:cNvPr id="95" name="Google Shape;95;p13"/>
          <p:cNvSpPr txBox="1"/>
          <p:nvPr>
            <p:ph type="ctrTitle"/>
          </p:nvPr>
        </p:nvSpPr>
        <p:spPr>
          <a:xfrm>
            <a:off x="8257406" y="2740265"/>
            <a:ext cx="3733500" cy="2331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endParaRPr sz="2400">
              <a:solidFill>
                <a:srgbClr val="C00000"/>
              </a:solidFill>
            </a:endParaRPr>
          </a:p>
        </p:txBody>
      </p:sp>
      <p:sp>
        <p:nvSpPr>
          <p:cNvPr id="96" name="Google Shape;96;p13"/>
          <p:cNvSpPr txBox="1"/>
          <p:nvPr/>
        </p:nvSpPr>
        <p:spPr>
          <a:xfrm>
            <a:off x="1568129" y="1186438"/>
            <a:ext cx="6373800" cy="64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100"/>
              <a:buFont typeface="Arial"/>
              <a:buNone/>
            </a:pPr>
            <a:r>
              <a:rPr b="1" i="0" lang="en-IN" sz="3300" u="none" cap="none" strike="noStrike">
                <a:solidFill>
                  <a:srgbClr val="C00000"/>
                </a:solidFill>
                <a:latin typeface="Times New Roman"/>
                <a:ea typeface="Times New Roman"/>
                <a:cs typeface="Times New Roman"/>
                <a:sym typeface="Times New Roman"/>
              </a:rPr>
              <a:t>Outline of Presentation</a:t>
            </a:r>
            <a:endParaRPr b="0" i="0" sz="3300" u="none" cap="none" strike="noStrike">
              <a:solidFill>
                <a:srgbClr val="C00000"/>
              </a:solidFill>
              <a:latin typeface="Times New Roman"/>
              <a:ea typeface="Times New Roman"/>
              <a:cs typeface="Times New Roman"/>
              <a:sym typeface="Times New Roman"/>
            </a:endParaRPr>
          </a:p>
        </p:txBody>
      </p:sp>
      <p:sp>
        <p:nvSpPr>
          <p:cNvPr id="97" name="Google Shape;97;p13"/>
          <p:cNvSpPr/>
          <p:nvPr/>
        </p:nvSpPr>
        <p:spPr>
          <a:xfrm>
            <a:off x="1714500" y="2095500"/>
            <a:ext cx="9048900" cy="438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aphicFrame>
        <p:nvGraphicFramePr>
          <p:cNvPr id="98" name="Google Shape;98;p13"/>
          <p:cNvGraphicFramePr/>
          <p:nvPr/>
        </p:nvGraphicFramePr>
        <p:xfrm>
          <a:off x="1714500" y="2095500"/>
          <a:ext cx="3000000" cy="3000000"/>
        </p:xfrm>
        <a:graphic>
          <a:graphicData uri="http://schemas.openxmlformats.org/drawingml/2006/table">
            <a:tbl>
              <a:tblPr>
                <a:noFill/>
                <a:tableStyleId>{58391EA4-35B8-440F-80FE-0CD1029DDEB0}</a:tableStyleId>
              </a:tblPr>
              <a:tblGrid>
                <a:gridCol w="2944250"/>
                <a:gridCol w="2944250"/>
                <a:gridCol w="2944250"/>
              </a:tblGrid>
              <a:tr h="399900">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Sr. No.</a:t>
                      </a:r>
                      <a:endParaRPr b="1">
                        <a:latin typeface="Times New Roman"/>
                        <a:ea typeface="Times New Roman"/>
                        <a:cs typeface="Times New Roman"/>
                        <a:sym typeface="Times New Roman"/>
                      </a:endParaRPr>
                    </a:p>
                  </a:txBody>
                  <a:tcPr marT="95250" marB="95250" marR="142875" marL="142875"/>
                </a:tc>
                <a:tc>
                  <a:txBody>
                    <a:bodyPr/>
                    <a:lstStyle/>
                    <a:p>
                      <a:pPr indent="0" lvl="0" marL="0" rtl="0" algn="l">
                        <a:spcBef>
                          <a:spcPts val="0"/>
                        </a:spcBef>
                        <a:spcAft>
                          <a:spcPts val="0"/>
                        </a:spcAft>
                        <a:buNone/>
                      </a:pPr>
                      <a:r>
                        <a:rPr b="1" lang="en-IN">
                          <a:latin typeface="Times New Roman"/>
                          <a:ea typeface="Times New Roman"/>
                          <a:cs typeface="Times New Roman"/>
                          <a:sym typeface="Times New Roman"/>
                        </a:rPr>
                        <a:t>Contents</a:t>
                      </a:r>
                      <a:endParaRPr b="1">
                        <a:latin typeface="Times New Roman"/>
                        <a:ea typeface="Times New Roman"/>
                        <a:cs typeface="Times New Roman"/>
                        <a:sym typeface="Times New Roman"/>
                      </a:endParaRPr>
                    </a:p>
                  </a:txBody>
                  <a:tcPr marT="95250" marB="95250" marR="142875" marL="142875"/>
                </a:tc>
                <a:tc>
                  <a:txBody>
                    <a:bodyPr/>
                    <a:lstStyle/>
                    <a:p>
                      <a:pPr indent="0" lvl="0" marL="0" rtl="0" algn="ctr">
                        <a:spcBef>
                          <a:spcPts val="0"/>
                        </a:spcBef>
                        <a:spcAft>
                          <a:spcPts val="0"/>
                        </a:spcAft>
                        <a:buNone/>
                      </a:pPr>
                      <a:r>
                        <a:rPr b="1" lang="en-IN">
                          <a:latin typeface="Times New Roman"/>
                          <a:ea typeface="Times New Roman"/>
                          <a:cs typeface="Times New Roman"/>
                          <a:sym typeface="Times New Roman"/>
                        </a:rPr>
                        <a:t>Page Number</a:t>
                      </a:r>
                      <a:endParaRPr b="1">
                        <a:latin typeface="Times New Roman"/>
                        <a:ea typeface="Times New Roman"/>
                        <a:cs typeface="Times New Roman"/>
                        <a:sym typeface="Times New Roman"/>
                      </a:endParaRPr>
                    </a:p>
                  </a:txBody>
                  <a:tcPr marT="95250" marB="95250" marR="142875" marL="142875"/>
                </a:tc>
              </a:tr>
              <a:tr h="398175">
                <a:tc>
                  <a:txBody>
                    <a:bodyPr/>
                    <a:lstStyle/>
                    <a:p>
                      <a:pPr indent="0" lvl="0" marL="0" rtl="0" algn="l">
                        <a:spcBef>
                          <a:spcPts val="0"/>
                        </a:spcBef>
                        <a:spcAft>
                          <a:spcPts val="0"/>
                        </a:spcAft>
                        <a:buNone/>
                      </a:pPr>
                      <a:r>
                        <a:rPr lang="en-IN">
                          <a:solidFill>
                            <a:schemeClr val="dk1"/>
                          </a:solidFill>
                          <a:highlight>
                            <a:srgbClr val="FBFBFB"/>
                          </a:highlight>
                          <a:latin typeface="Times New Roman"/>
                          <a:ea typeface="Times New Roman"/>
                          <a:cs typeface="Times New Roman"/>
                          <a:sym typeface="Times New Roman"/>
                        </a:rPr>
                        <a:t>01</a:t>
                      </a:r>
                      <a:endParaRPr>
                        <a:solidFill>
                          <a:schemeClr val="dk1"/>
                        </a:solidFill>
                        <a:highlight>
                          <a:srgbClr val="FBFBFB"/>
                        </a:highlight>
                        <a:latin typeface="Times New Roman"/>
                        <a:ea typeface="Times New Roman"/>
                        <a:cs typeface="Times New Roman"/>
                        <a:sym typeface="Times New Roman"/>
                      </a:endParaRPr>
                    </a:p>
                  </a:txBody>
                  <a:tcPr marT="76200" marB="76200" marR="142875" marL="142875">
                    <a:lnB cap="flat" cmpd="sng" w="9525">
                      <a:solidFill>
                        <a:srgbClr val="E5E7EB"/>
                      </a:solidFill>
                      <a:prstDash val="solid"/>
                      <a:round/>
                      <a:headEnd len="sm" w="sm" type="none"/>
                      <a:tailEnd len="sm" w="sm" type="none"/>
                    </a:lnB>
                    <a:solidFill>
                      <a:srgbClr val="FBFBFB"/>
                    </a:solidFill>
                  </a:tcPr>
                </a:tc>
                <a:tc>
                  <a:txBody>
                    <a:bodyPr/>
                    <a:lstStyle/>
                    <a:p>
                      <a:pPr indent="0" lvl="0" marL="0" rtl="0" algn="l">
                        <a:spcBef>
                          <a:spcPts val="0"/>
                        </a:spcBef>
                        <a:spcAft>
                          <a:spcPts val="0"/>
                        </a:spcAft>
                        <a:buNone/>
                      </a:pPr>
                      <a:r>
                        <a:rPr lang="en-IN">
                          <a:highlight>
                            <a:srgbClr val="FBFBFB"/>
                          </a:highlight>
                          <a:latin typeface="Times New Roman"/>
                          <a:ea typeface="Times New Roman"/>
                          <a:cs typeface="Times New Roman"/>
                          <a:sym typeface="Times New Roman"/>
                        </a:rPr>
                        <a:t>Problem statement</a:t>
                      </a:r>
                      <a:endParaRPr>
                        <a:highlight>
                          <a:srgbClr val="FBFBFB"/>
                        </a:highlight>
                        <a:latin typeface="Times New Roman"/>
                        <a:ea typeface="Times New Roman"/>
                        <a:cs typeface="Times New Roman"/>
                        <a:sym typeface="Times New Roman"/>
                      </a:endParaRPr>
                    </a:p>
                  </a:txBody>
                  <a:tcPr marT="76200" marB="76200" marR="142875" marL="142875">
                    <a:lnB cap="flat" cmpd="sng" w="9525">
                      <a:solidFill>
                        <a:srgbClr val="E5E7EB"/>
                      </a:solidFill>
                      <a:prstDash val="solid"/>
                      <a:round/>
                      <a:headEnd len="sm" w="sm" type="none"/>
                      <a:tailEnd len="sm" w="sm" type="none"/>
                    </a:lnB>
                    <a:solidFill>
                      <a:srgbClr val="FBFBFB"/>
                    </a:solidFill>
                  </a:tcPr>
                </a:tc>
                <a:tc>
                  <a:txBody>
                    <a:bodyPr/>
                    <a:lstStyle/>
                    <a:p>
                      <a:pPr indent="0" lvl="0" marL="0" rtl="0" algn="ctr">
                        <a:spcBef>
                          <a:spcPts val="0"/>
                        </a:spcBef>
                        <a:spcAft>
                          <a:spcPts val="0"/>
                        </a:spcAft>
                        <a:buNone/>
                      </a:pPr>
                      <a:r>
                        <a:rPr b="1" lang="en-IN">
                          <a:solidFill>
                            <a:srgbClr val="052358"/>
                          </a:solidFill>
                          <a:highlight>
                            <a:srgbClr val="FBFBFB"/>
                          </a:highlight>
                          <a:latin typeface="Times New Roman"/>
                          <a:ea typeface="Times New Roman"/>
                          <a:cs typeface="Times New Roman"/>
                          <a:sym typeface="Times New Roman"/>
                        </a:rPr>
                        <a:t>3</a:t>
                      </a:r>
                      <a:endParaRPr b="1">
                        <a:solidFill>
                          <a:srgbClr val="052358"/>
                        </a:solidFill>
                        <a:highlight>
                          <a:srgbClr val="FBFBFB"/>
                        </a:highlight>
                        <a:latin typeface="Times New Roman"/>
                        <a:ea typeface="Times New Roman"/>
                        <a:cs typeface="Times New Roman"/>
                        <a:sym typeface="Times New Roman"/>
                      </a:endParaRPr>
                    </a:p>
                  </a:txBody>
                  <a:tcPr marT="76200" marB="76200" marR="142875" marL="142875">
                    <a:lnB cap="flat" cmpd="sng" w="9525">
                      <a:solidFill>
                        <a:srgbClr val="E5E7EB"/>
                      </a:solidFill>
                      <a:prstDash val="solid"/>
                      <a:round/>
                      <a:headEnd len="sm" w="sm" type="none"/>
                      <a:tailEnd len="sm" w="sm" type="none"/>
                    </a:lnB>
                    <a:solidFill>
                      <a:srgbClr val="FBFBFB"/>
                    </a:solidFill>
                  </a:tcPr>
                </a:tc>
              </a:tr>
              <a:tr h="398175">
                <a:tc>
                  <a:txBody>
                    <a:bodyPr/>
                    <a:lstStyle/>
                    <a:p>
                      <a:pPr indent="0" lvl="0" marL="0" rtl="0" algn="l">
                        <a:spcBef>
                          <a:spcPts val="0"/>
                        </a:spcBef>
                        <a:spcAft>
                          <a:spcPts val="0"/>
                        </a:spcAft>
                        <a:buNone/>
                      </a:pPr>
                      <a:r>
                        <a:rPr lang="en-IN">
                          <a:solidFill>
                            <a:schemeClr val="dk1"/>
                          </a:solidFill>
                          <a:latin typeface="Times New Roman"/>
                          <a:ea typeface="Times New Roman"/>
                          <a:cs typeface="Times New Roman"/>
                          <a:sym typeface="Times New Roman"/>
                        </a:rPr>
                        <a:t>02</a:t>
                      </a:r>
                      <a:endParaRPr>
                        <a:solidFill>
                          <a:schemeClr val="dk1"/>
                        </a:solidFill>
                        <a:latin typeface="Times New Roman"/>
                        <a:ea typeface="Times New Roman"/>
                        <a:cs typeface="Times New Roman"/>
                        <a:sym typeface="Times New Roman"/>
                      </a:endParaRPr>
                    </a:p>
                  </a:txBody>
                  <a:tcPr marT="76200" marB="76200" marR="142875" marL="142875">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Introduction</a:t>
                      </a:r>
                      <a:endParaRPr>
                        <a:latin typeface="Times New Roman"/>
                        <a:ea typeface="Times New Roman"/>
                        <a:cs typeface="Times New Roman"/>
                        <a:sym typeface="Times New Roman"/>
                      </a:endParaRPr>
                    </a:p>
                  </a:txBody>
                  <a:tcPr marT="76200" marB="76200" marR="142875" marL="142875">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rtl="0" algn="ctr">
                        <a:spcBef>
                          <a:spcPts val="0"/>
                        </a:spcBef>
                        <a:spcAft>
                          <a:spcPts val="0"/>
                        </a:spcAft>
                        <a:buNone/>
                      </a:pPr>
                      <a:r>
                        <a:rPr b="1" lang="en-IN">
                          <a:solidFill>
                            <a:srgbClr val="052358"/>
                          </a:solidFill>
                          <a:latin typeface="Times New Roman"/>
                          <a:ea typeface="Times New Roman"/>
                          <a:cs typeface="Times New Roman"/>
                          <a:sym typeface="Times New Roman"/>
                        </a:rPr>
                        <a:t>4</a:t>
                      </a:r>
                      <a:endParaRPr b="1">
                        <a:solidFill>
                          <a:srgbClr val="052358"/>
                        </a:solidFill>
                        <a:latin typeface="Times New Roman"/>
                        <a:ea typeface="Times New Roman"/>
                        <a:cs typeface="Times New Roman"/>
                        <a:sym typeface="Times New Roman"/>
                      </a:endParaRPr>
                    </a:p>
                  </a:txBody>
                  <a:tcPr marT="76200" marB="76200" marR="142875" marL="142875">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398150">
                <a:tc>
                  <a:txBody>
                    <a:bodyPr/>
                    <a:lstStyle/>
                    <a:p>
                      <a:pPr indent="0" lvl="0" marL="0" rtl="0" algn="l">
                        <a:spcBef>
                          <a:spcPts val="0"/>
                        </a:spcBef>
                        <a:spcAft>
                          <a:spcPts val="0"/>
                        </a:spcAft>
                        <a:buNone/>
                      </a:pPr>
                      <a:r>
                        <a:rPr lang="en-IN">
                          <a:solidFill>
                            <a:schemeClr val="dk1"/>
                          </a:solidFill>
                          <a:highlight>
                            <a:srgbClr val="FBFBFB"/>
                          </a:highlight>
                          <a:latin typeface="Times New Roman"/>
                          <a:ea typeface="Times New Roman"/>
                          <a:cs typeface="Times New Roman"/>
                          <a:sym typeface="Times New Roman"/>
                        </a:rPr>
                        <a:t>03</a:t>
                      </a:r>
                      <a:endParaRPr>
                        <a:solidFill>
                          <a:schemeClr val="dk1"/>
                        </a:solidFill>
                        <a:highlight>
                          <a:srgbClr val="FBFBFB"/>
                        </a:highlight>
                        <a:latin typeface="Times New Roman"/>
                        <a:ea typeface="Times New Roman"/>
                        <a:cs typeface="Times New Roman"/>
                        <a:sym typeface="Times New Roman"/>
                      </a:endParaRPr>
                    </a:p>
                  </a:txBody>
                  <a:tcPr marT="76200" marB="76200" marR="142875" marL="142875">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BFBFB"/>
                    </a:solidFill>
                  </a:tcPr>
                </a:tc>
                <a:tc>
                  <a:txBody>
                    <a:bodyPr/>
                    <a:lstStyle/>
                    <a:p>
                      <a:pPr indent="0" lvl="0" marL="0" rtl="0" algn="l">
                        <a:spcBef>
                          <a:spcPts val="0"/>
                        </a:spcBef>
                        <a:spcAft>
                          <a:spcPts val="0"/>
                        </a:spcAft>
                        <a:buNone/>
                      </a:pPr>
                      <a:r>
                        <a:rPr lang="en-IN">
                          <a:highlight>
                            <a:srgbClr val="FBFBFB"/>
                          </a:highlight>
                          <a:latin typeface="Times New Roman"/>
                          <a:ea typeface="Times New Roman"/>
                          <a:cs typeface="Times New Roman"/>
                          <a:sym typeface="Times New Roman"/>
                        </a:rPr>
                        <a:t>Objectives</a:t>
                      </a:r>
                      <a:endParaRPr>
                        <a:highlight>
                          <a:srgbClr val="FBFBFB"/>
                        </a:highlight>
                        <a:latin typeface="Times New Roman"/>
                        <a:ea typeface="Times New Roman"/>
                        <a:cs typeface="Times New Roman"/>
                        <a:sym typeface="Times New Roman"/>
                      </a:endParaRPr>
                    </a:p>
                  </a:txBody>
                  <a:tcPr marT="76200" marB="76200" marR="142875" marL="142875">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BFBFB"/>
                    </a:solidFill>
                  </a:tcPr>
                </a:tc>
                <a:tc>
                  <a:txBody>
                    <a:bodyPr/>
                    <a:lstStyle/>
                    <a:p>
                      <a:pPr indent="0" lvl="0" marL="0" rtl="0" algn="ctr">
                        <a:spcBef>
                          <a:spcPts val="0"/>
                        </a:spcBef>
                        <a:spcAft>
                          <a:spcPts val="0"/>
                        </a:spcAft>
                        <a:buNone/>
                      </a:pPr>
                      <a:r>
                        <a:rPr b="1" lang="en-IN">
                          <a:solidFill>
                            <a:srgbClr val="052358"/>
                          </a:solidFill>
                          <a:highlight>
                            <a:srgbClr val="FBFBFB"/>
                          </a:highlight>
                          <a:latin typeface="Times New Roman"/>
                          <a:ea typeface="Times New Roman"/>
                          <a:cs typeface="Times New Roman"/>
                          <a:sym typeface="Times New Roman"/>
                        </a:rPr>
                        <a:t>5</a:t>
                      </a:r>
                      <a:endParaRPr b="1">
                        <a:solidFill>
                          <a:srgbClr val="052358"/>
                        </a:solidFill>
                        <a:highlight>
                          <a:srgbClr val="FBFBFB"/>
                        </a:highlight>
                        <a:latin typeface="Times New Roman"/>
                        <a:ea typeface="Times New Roman"/>
                        <a:cs typeface="Times New Roman"/>
                        <a:sym typeface="Times New Roman"/>
                      </a:endParaRPr>
                    </a:p>
                  </a:txBody>
                  <a:tcPr marT="76200" marB="76200" marR="142875" marL="142875">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BFBFB"/>
                    </a:solidFill>
                  </a:tcPr>
                </a:tc>
              </a:tr>
              <a:tr h="398175">
                <a:tc>
                  <a:txBody>
                    <a:bodyPr/>
                    <a:lstStyle/>
                    <a:p>
                      <a:pPr indent="0" lvl="0" marL="0" rtl="0" algn="l">
                        <a:spcBef>
                          <a:spcPts val="0"/>
                        </a:spcBef>
                        <a:spcAft>
                          <a:spcPts val="0"/>
                        </a:spcAft>
                        <a:buNone/>
                      </a:pPr>
                      <a:r>
                        <a:rPr lang="en-IN">
                          <a:solidFill>
                            <a:schemeClr val="dk1"/>
                          </a:solidFill>
                          <a:latin typeface="Times New Roman"/>
                          <a:ea typeface="Times New Roman"/>
                          <a:cs typeface="Times New Roman"/>
                          <a:sym typeface="Times New Roman"/>
                        </a:rPr>
                        <a:t>04</a:t>
                      </a:r>
                      <a:endParaRPr>
                        <a:solidFill>
                          <a:schemeClr val="dk1"/>
                        </a:solidFill>
                        <a:latin typeface="Times New Roman"/>
                        <a:ea typeface="Times New Roman"/>
                        <a:cs typeface="Times New Roman"/>
                        <a:sym typeface="Times New Roman"/>
                      </a:endParaRPr>
                    </a:p>
                  </a:txBody>
                  <a:tcPr marT="76200" marB="76200" marR="142875" marL="142875">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Tech Stack &amp; Libraries Used</a:t>
                      </a:r>
                      <a:endParaRPr>
                        <a:latin typeface="Times New Roman"/>
                        <a:ea typeface="Times New Roman"/>
                        <a:cs typeface="Times New Roman"/>
                        <a:sym typeface="Times New Roman"/>
                      </a:endParaRPr>
                    </a:p>
                  </a:txBody>
                  <a:tcPr marT="76200" marB="76200" marR="142875" marL="142875">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rtl="0" algn="ctr">
                        <a:spcBef>
                          <a:spcPts val="0"/>
                        </a:spcBef>
                        <a:spcAft>
                          <a:spcPts val="0"/>
                        </a:spcAft>
                        <a:buNone/>
                      </a:pPr>
                      <a:r>
                        <a:rPr b="1" lang="en-IN">
                          <a:solidFill>
                            <a:srgbClr val="052358"/>
                          </a:solidFill>
                          <a:latin typeface="Times New Roman"/>
                          <a:ea typeface="Times New Roman"/>
                          <a:cs typeface="Times New Roman"/>
                          <a:sym typeface="Times New Roman"/>
                        </a:rPr>
                        <a:t>6</a:t>
                      </a:r>
                      <a:endParaRPr b="1">
                        <a:solidFill>
                          <a:srgbClr val="052358"/>
                        </a:solidFill>
                        <a:latin typeface="Times New Roman"/>
                        <a:ea typeface="Times New Roman"/>
                        <a:cs typeface="Times New Roman"/>
                        <a:sym typeface="Times New Roman"/>
                      </a:endParaRPr>
                    </a:p>
                  </a:txBody>
                  <a:tcPr marT="76200" marB="76200" marR="142875" marL="142875">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398175">
                <a:tc>
                  <a:txBody>
                    <a:bodyPr/>
                    <a:lstStyle/>
                    <a:p>
                      <a:pPr indent="0" lvl="0" marL="0" rtl="0" algn="l">
                        <a:spcBef>
                          <a:spcPts val="0"/>
                        </a:spcBef>
                        <a:spcAft>
                          <a:spcPts val="0"/>
                        </a:spcAft>
                        <a:buNone/>
                      </a:pPr>
                      <a:r>
                        <a:rPr lang="en-IN">
                          <a:solidFill>
                            <a:schemeClr val="dk1"/>
                          </a:solidFill>
                          <a:highlight>
                            <a:srgbClr val="FBFBFB"/>
                          </a:highlight>
                          <a:latin typeface="Times New Roman"/>
                          <a:ea typeface="Times New Roman"/>
                          <a:cs typeface="Times New Roman"/>
                          <a:sym typeface="Times New Roman"/>
                        </a:rPr>
                        <a:t>05</a:t>
                      </a:r>
                      <a:endParaRPr>
                        <a:solidFill>
                          <a:schemeClr val="dk1"/>
                        </a:solidFill>
                        <a:highlight>
                          <a:srgbClr val="FBFBFB"/>
                        </a:highlight>
                        <a:latin typeface="Times New Roman"/>
                        <a:ea typeface="Times New Roman"/>
                        <a:cs typeface="Times New Roman"/>
                        <a:sym typeface="Times New Roman"/>
                      </a:endParaRPr>
                    </a:p>
                  </a:txBody>
                  <a:tcPr marT="76200" marB="76200" marR="142875" marL="142875">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BFBFB"/>
                    </a:solidFill>
                  </a:tcPr>
                </a:tc>
                <a:tc>
                  <a:txBody>
                    <a:bodyPr/>
                    <a:lstStyle/>
                    <a:p>
                      <a:pPr indent="0" lvl="0" marL="0" rtl="0" algn="l">
                        <a:spcBef>
                          <a:spcPts val="0"/>
                        </a:spcBef>
                        <a:spcAft>
                          <a:spcPts val="0"/>
                        </a:spcAft>
                        <a:buNone/>
                      </a:pPr>
                      <a:r>
                        <a:rPr lang="en-IN">
                          <a:highlight>
                            <a:srgbClr val="FBFBFB"/>
                          </a:highlight>
                          <a:latin typeface="Times New Roman"/>
                          <a:ea typeface="Times New Roman"/>
                          <a:cs typeface="Times New Roman"/>
                          <a:sym typeface="Times New Roman"/>
                        </a:rPr>
                        <a:t>Workflow Pipeline</a:t>
                      </a:r>
                      <a:endParaRPr>
                        <a:highlight>
                          <a:srgbClr val="FBFBFB"/>
                        </a:highlight>
                        <a:latin typeface="Times New Roman"/>
                        <a:ea typeface="Times New Roman"/>
                        <a:cs typeface="Times New Roman"/>
                        <a:sym typeface="Times New Roman"/>
                      </a:endParaRPr>
                    </a:p>
                  </a:txBody>
                  <a:tcPr marT="76200" marB="76200" marR="142875" marL="142875">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BFBFB"/>
                    </a:solidFill>
                  </a:tcPr>
                </a:tc>
                <a:tc>
                  <a:txBody>
                    <a:bodyPr/>
                    <a:lstStyle/>
                    <a:p>
                      <a:pPr indent="0" lvl="0" marL="0" rtl="0" algn="ctr">
                        <a:spcBef>
                          <a:spcPts val="0"/>
                        </a:spcBef>
                        <a:spcAft>
                          <a:spcPts val="0"/>
                        </a:spcAft>
                        <a:buNone/>
                      </a:pPr>
                      <a:r>
                        <a:rPr b="1" lang="en-IN">
                          <a:solidFill>
                            <a:srgbClr val="052358"/>
                          </a:solidFill>
                          <a:highlight>
                            <a:srgbClr val="FBFBFB"/>
                          </a:highlight>
                          <a:latin typeface="Times New Roman"/>
                          <a:ea typeface="Times New Roman"/>
                          <a:cs typeface="Times New Roman"/>
                          <a:sym typeface="Times New Roman"/>
                        </a:rPr>
                        <a:t>7</a:t>
                      </a:r>
                      <a:endParaRPr b="1">
                        <a:solidFill>
                          <a:srgbClr val="052358"/>
                        </a:solidFill>
                        <a:highlight>
                          <a:srgbClr val="FBFBFB"/>
                        </a:highlight>
                        <a:latin typeface="Times New Roman"/>
                        <a:ea typeface="Times New Roman"/>
                        <a:cs typeface="Times New Roman"/>
                        <a:sym typeface="Times New Roman"/>
                      </a:endParaRPr>
                    </a:p>
                  </a:txBody>
                  <a:tcPr marT="76200" marB="76200" marR="142875" marL="142875">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BFBFB"/>
                    </a:solidFill>
                  </a:tcPr>
                </a:tc>
              </a:tr>
              <a:tr h="398175">
                <a:tc>
                  <a:txBody>
                    <a:bodyPr/>
                    <a:lstStyle/>
                    <a:p>
                      <a:pPr indent="0" lvl="0" marL="0" rtl="0" algn="l">
                        <a:spcBef>
                          <a:spcPts val="0"/>
                        </a:spcBef>
                        <a:spcAft>
                          <a:spcPts val="0"/>
                        </a:spcAft>
                        <a:buNone/>
                      </a:pPr>
                      <a:r>
                        <a:rPr lang="en-IN">
                          <a:solidFill>
                            <a:schemeClr val="dk1"/>
                          </a:solidFill>
                          <a:latin typeface="Times New Roman"/>
                          <a:ea typeface="Times New Roman"/>
                          <a:cs typeface="Times New Roman"/>
                          <a:sym typeface="Times New Roman"/>
                        </a:rPr>
                        <a:t>06</a:t>
                      </a:r>
                      <a:endParaRPr>
                        <a:solidFill>
                          <a:schemeClr val="dk1"/>
                        </a:solidFill>
                        <a:latin typeface="Times New Roman"/>
                        <a:ea typeface="Times New Roman"/>
                        <a:cs typeface="Times New Roman"/>
                        <a:sym typeface="Times New Roman"/>
                      </a:endParaRPr>
                    </a:p>
                  </a:txBody>
                  <a:tcPr marT="76200" marB="76200" marR="142875" marL="142875">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Progress achieved so far</a:t>
                      </a:r>
                      <a:endParaRPr>
                        <a:latin typeface="Times New Roman"/>
                        <a:ea typeface="Times New Roman"/>
                        <a:cs typeface="Times New Roman"/>
                        <a:sym typeface="Times New Roman"/>
                      </a:endParaRPr>
                    </a:p>
                  </a:txBody>
                  <a:tcPr marT="76200" marB="76200" marR="142875" marL="142875">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rtl="0" algn="ctr">
                        <a:spcBef>
                          <a:spcPts val="0"/>
                        </a:spcBef>
                        <a:spcAft>
                          <a:spcPts val="0"/>
                        </a:spcAft>
                        <a:buNone/>
                      </a:pPr>
                      <a:r>
                        <a:rPr b="1" lang="en-IN">
                          <a:solidFill>
                            <a:srgbClr val="052358"/>
                          </a:solidFill>
                          <a:latin typeface="Times New Roman"/>
                          <a:ea typeface="Times New Roman"/>
                          <a:cs typeface="Times New Roman"/>
                          <a:sym typeface="Times New Roman"/>
                        </a:rPr>
                        <a:t>8</a:t>
                      </a:r>
                      <a:endParaRPr b="1">
                        <a:solidFill>
                          <a:srgbClr val="052358"/>
                        </a:solidFill>
                        <a:latin typeface="Times New Roman"/>
                        <a:ea typeface="Times New Roman"/>
                        <a:cs typeface="Times New Roman"/>
                        <a:sym typeface="Times New Roman"/>
                      </a:endParaRPr>
                    </a:p>
                  </a:txBody>
                  <a:tcPr marT="76200" marB="76200" marR="142875" marL="142875">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398150">
                <a:tc>
                  <a:txBody>
                    <a:bodyPr/>
                    <a:lstStyle/>
                    <a:p>
                      <a:pPr indent="0" lvl="0" marL="0" rtl="0" algn="l">
                        <a:spcBef>
                          <a:spcPts val="0"/>
                        </a:spcBef>
                        <a:spcAft>
                          <a:spcPts val="0"/>
                        </a:spcAft>
                        <a:buNone/>
                      </a:pPr>
                      <a:r>
                        <a:rPr lang="en-IN">
                          <a:solidFill>
                            <a:schemeClr val="dk1"/>
                          </a:solidFill>
                          <a:highlight>
                            <a:srgbClr val="FBFBFB"/>
                          </a:highlight>
                          <a:latin typeface="Times New Roman"/>
                          <a:ea typeface="Times New Roman"/>
                          <a:cs typeface="Times New Roman"/>
                          <a:sym typeface="Times New Roman"/>
                        </a:rPr>
                        <a:t>07</a:t>
                      </a:r>
                      <a:endParaRPr>
                        <a:solidFill>
                          <a:schemeClr val="dk1"/>
                        </a:solidFill>
                        <a:highlight>
                          <a:srgbClr val="FBFBFB"/>
                        </a:highlight>
                        <a:latin typeface="Times New Roman"/>
                        <a:ea typeface="Times New Roman"/>
                        <a:cs typeface="Times New Roman"/>
                        <a:sym typeface="Times New Roman"/>
                      </a:endParaRPr>
                    </a:p>
                  </a:txBody>
                  <a:tcPr marT="76200" marB="76200" marR="142875" marL="142875">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BFBFB"/>
                    </a:solidFill>
                  </a:tcPr>
                </a:tc>
                <a:tc>
                  <a:txBody>
                    <a:bodyPr/>
                    <a:lstStyle/>
                    <a:p>
                      <a:pPr indent="0" lvl="0" marL="0" rtl="0" algn="l">
                        <a:spcBef>
                          <a:spcPts val="0"/>
                        </a:spcBef>
                        <a:spcAft>
                          <a:spcPts val="0"/>
                        </a:spcAft>
                        <a:buNone/>
                      </a:pPr>
                      <a:r>
                        <a:rPr lang="en-IN">
                          <a:highlight>
                            <a:srgbClr val="FBFBFB"/>
                          </a:highlight>
                          <a:latin typeface="Times New Roman"/>
                          <a:ea typeface="Times New Roman"/>
                          <a:cs typeface="Times New Roman"/>
                          <a:sym typeface="Times New Roman"/>
                        </a:rPr>
                        <a:t>Remaining Developments</a:t>
                      </a:r>
                      <a:endParaRPr>
                        <a:highlight>
                          <a:srgbClr val="FBFBFB"/>
                        </a:highlight>
                        <a:latin typeface="Times New Roman"/>
                        <a:ea typeface="Times New Roman"/>
                        <a:cs typeface="Times New Roman"/>
                        <a:sym typeface="Times New Roman"/>
                      </a:endParaRPr>
                    </a:p>
                  </a:txBody>
                  <a:tcPr marT="76200" marB="76200" marR="142875" marL="142875">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BFBFB"/>
                    </a:solidFill>
                  </a:tcPr>
                </a:tc>
                <a:tc>
                  <a:txBody>
                    <a:bodyPr/>
                    <a:lstStyle/>
                    <a:p>
                      <a:pPr indent="0" lvl="0" marL="0" rtl="0" algn="ctr">
                        <a:spcBef>
                          <a:spcPts val="0"/>
                        </a:spcBef>
                        <a:spcAft>
                          <a:spcPts val="0"/>
                        </a:spcAft>
                        <a:buNone/>
                      </a:pPr>
                      <a:r>
                        <a:rPr b="1" lang="en-IN">
                          <a:solidFill>
                            <a:srgbClr val="052358"/>
                          </a:solidFill>
                          <a:highlight>
                            <a:srgbClr val="FBFBFB"/>
                          </a:highlight>
                          <a:latin typeface="Times New Roman"/>
                          <a:ea typeface="Times New Roman"/>
                          <a:cs typeface="Times New Roman"/>
                          <a:sym typeface="Times New Roman"/>
                        </a:rPr>
                        <a:t>9</a:t>
                      </a:r>
                      <a:endParaRPr b="1">
                        <a:solidFill>
                          <a:srgbClr val="052358"/>
                        </a:solidFill>
                        <a:highlight>
                          <a:srgbClr val="FBFBFB"/>
                        </a:highlight>
                        <a:latin typeface="Times New Roman"/>
                        <a:ea typeface="Times New Roman"/>
                        <a:cs typeface="Times New Roman"/>
                        <a:sym typeface="Times New Roman"/>
                      </a:endParaRPr>
                    </a:p>
                  </a:txBody>
                  <a:tcPr marT="76200" marB="76200" marR="142875" marL="142875">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BFBFB"/>
                    </a:solidFill>
                  </a:tcPr>
                </a:tc>
              </a:tr>
              <a:tr h="398175">
                <a:tc>
                  <a:txBody>
                    <a:bodyPr/>
                    <a:lstStyle/>
                    <a:p>
                      <a:pPr indent="0" lvl="0" marL="0" rtl="0" algn="l">
                        <a:spcBef>
                          <a:spcPts val="0"/>
                        </a:spcBef>
                        <a:spcAft>
                          <a:spcPts val="0"/>
                        </a:spcAft>
                        <a:buNone/>
                      </a:pPr>
                      <a:r>
                        <a:rPr lang="en-IN">
                          <a:solidFill>
                            <a:schemeClr val="dk1"/>
                          </a:solidFill>
                          <a:latin typeface="Times New Roman"/>
                          <a:ea typeface="Times New Roman"/>
                          <a:cs typeface="Times New Roman"/>
                          <a:sym typeface="Times New Roman"/>
                        </a:rPr>
                        <a:t>08</a:t>
                      </a:r>
                      <a:endParaRPr>
                        <a:solidFill>
                          <a:schemeClr val="dk1"/>
                        </a:solidFill>
                        <a:latin typeface="Times New Roman"/>
                        <a:ea typeface="Times New Roman"/>
                        <a:cs typeface="Times New Roman"/>
                        <a:sym typeface="Times New Roman"/>
                      </a:endParaRPr>
                    </a:p>
                  </a:txBody>
                  <a:tcPr marT="76200" marB="76200" marR="142875" marL="142875">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Paper Published</a:t>
                      </a:r>
                      <a:endParaRPr>
                        <a:latin typeface="Times New Roman"/>
                        <a:ea typeface="Times New Roman"/>
                        <a:cs typeface="Times New Roman"/>
                        <a:sym typeface="Times New Roman"/>
                      </a:endParaRPr>
                    </a:p>
                  </a:txBody>
                  <a:tcPr marT="76200" marB="76200" marR="142875" marL="142875">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rtl="0" algn="ctr">
                        <a:spcBef>
                          <a:spcPts val="0"/>
                        </a:spcBef>
                        <a:spcAft>
                          <a:spcPts val="0"/>
                        </a:spcAft>
                        <a:buNone/>
                      </a:pPr>
                      <a:r>
                        <a:rPr b="1" lang="en-IN">
                          <a:solidFill>
                            <a:srgbClr val="052358"/>
                          </a:solidFill>
                          <a:latin typeface="Times New Roman"/>
                          <a:ea typeface="Times New Roman"/>
                          <a:cs typeface="Times New Roman"/>
                          <a:sym typeface="Times New Roman"/>
                        </a:rPr>
                        <a:t>10</a:t>
                      </a:r>
                      <a:endParaRPr b="1">
                        <a:solidFill>
                          <a:srgbClr val="052358"/>
                        </a:solidFill>
                        <a:latin typeface="Times New Roman"/>
                        <a:ea typeface="Times New Roman"/>
                        <a:cs typeface="Times New Roman"/>
                        <a:sym typeface="Times New Roman"/>
                      </a:endParaRPr>
                    </a:p>
                  </a:txBody>
                  <a:tcPr marT="76200" marB="76200" marR="142875" marL="142875">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398175">
                <a:tc>
                  <a:txBody>
                    <a:bodyPr/>
                    <a:lstStyle/>
                    <a:p>
                      <a:pPr indent="0" lvl="0" marL="0" rtl="0" algn="l">
                        <a:spcBef>
                          <a:spcPts val="0"/>
                        </a:spcBef>
                        <a:spcAft>
                          <a:spcPts val="0"/>
                        </a:spcAft>
                        <a:buNone/>
                      </a:pPr>
                      <a:r>
                        <a:rPr lang="en-IN">
                          <a:solidFill>
                            <a:schemeClr val="dk1"/>
                          </a:solidFill>
                          <a:highlight>
                            <a:srgbClr val="FBFBFB"/>
                          </a:highlight>
                          <a:latin typeface="Times New Roman"/>
                          <a:ea typeface="Times New Roman"/>
                          <a:cs typeface="Times New Roman"/>
                          <a:sym typeface="Times New Roman"/>
                        </a:rPr>
                        <a:t>09</a:t>
                      </a:r>
                      <a:endParaRPr>
                        <a:solidFill>
                          <a:schemeClr val="dk1"/>
                        </a:solidFill>
                        <a:highlight>
                          <a:srgbClr val="FBFBFB"/>
                        </a:highlight>
                        <a:latin typeface="Times New Roman"/>
                        <a:ea typeface="Times New Roman"/>
                        <a:cs typeface="Times New Roman"/>
                        <a:sym typeface="Times New Roman"/>
                      </a:endParaRPr>
                    </a:p>
                  </a:txBody>
                  <a:tcPr marT="76200" marB="76200" marR="142875" marL="142875">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BFBFB"/>
                    </a:solidFill>
                  </a:tcPr>
                </a:tc>
                <a:tc>
                  <a:txBody>
                    <a:bodyPr/>
                    <a:lstStyle/>
                    <a:p>
                      <a:pPr indent="0" lvl="0" marL="0" rtl="0" algn="l">
                        <a:spcBef>
                          <a:spcPts val="0"/>
                        </a:spcBef>
                        <a:spcAft>
                          <a:spcPts val="0"/>
                        </a:spcAft>
                        <a:buNone/>
                      </a:pPr>
                      <a:r>
                        <a:rPr lang="en-IN">
                          <a:highlight>
                            <a:srgbClr val="FBFBFB"/>
                          </a:highlight>
                          <a:latin typeface="Times New Roman"/>
                          <a:ea typeface="Times New Roman"/>
                          <a:cs typeface="Times New Roman"/>
                          <a:sym typeface="Times New Roman"/>
                        </a:rPr>
                        <a:t>Literature Survey</a:t>
                      </a:r>
                      <a:endParaRPr>
                        <a:highlight>
                          <a:srgbClr val="FBFBFB"/>
                        </a:highlight>
                        <a:latin typeface="Times New Roman"/>
                        <a:ea typeface="Times New Roman"/>
                        <a:cs typeface="Times New Roman"/>
                        <a:sym typeface="Times New Roman"/>
                      </a:endParaRPr>
                    </a:p>
                  </a:txBody>
                  <a:tcPr marT="76200" marB="76200" marR="142875" marL="142875">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BFBFB"/>
                    </a:solidFill>
                  </a:tcPr>
                </a:tc>
                <a:tc>
                  <a:txBody>
                    <a:bodyPr/>
                    <a:lstStyle/>
                    <a:p>
                      <a:pPr indent="0" lvl="0" marL="0" rtl="0" algn="ctr">
                        <a:spcBef>
                          <a:spcPts val="0"/>
                        </a:spcBef>
                        <a:spcAft>
                          <a:spcPts val="0"/>
                        </a:spcAft>
                        <a:buNone/>
                      </a:pPr>
                      <a:r>
                        <a:rPr b="1" lang="en-IN">
                          <a:solidFill>
                            <a:srgbClr val="052358"/>
                          </a:solidFill>
                          <a:highlight>
                            <a:srgbClr val="FBFBFB"/>
                          </a:highlight>
                          <a:latin typeface="Times New Roman"/>
                          <a:ea typeface="Times New Roman"/>
                          <a:cs typeface="Times New Roman"/>
                          <a:sym typeface="Times New Roman"/>
                        </a:rPr>
                        <a:t>11</a:t>
                      </a:r>
                      <a:endParaRPr b="1">
                        <a:solidFill>
                          <a:srgbClr val="052358"/>
                        </a:solidFill>
                        <a:highlight>
                          <a:srgbClr val="FBFBFB"/>
                        </a:highlight>
                        <a:latin typeface="Times New Roman"/>
                        <a:ea typeface="Times New Roman"/>
                        <a:cs typeface="Times New Roman"/>
                        <a:sym typeface="Times New Roman"/>
                      </a:endParaRPr>
                    </a:p>
                  </a:txBody>
                  <a:tcPr marT="76200" marB="76200" marR="142875" marL="142875">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FBFBFB"/>
                    </a:solidFill>
                  </a:tcPr>
                </a:tc>
              </a:tr>
              <a:tr h="398175">
                <a:tc>
                  <a:txBody>
                    <a:bodyPr/>
                    <a:lstStyle/>
                    <a:p>
                      <a:pPr indent="0" lvl="0" marL="0" rtl="0" algn="l">
                        <a:spcBef>
                          <a:spcPts val="0"/>
                        </a:spcBef>
                        <a:spcAft>
                          <a:spcPts val="0"/>
                        </a:spcAft>
                        <a:buNone/>
                      </a:pPr>
                      <a:r>
                        <a:rPr lang="en-IN">
                          <a:solidFill>
                            <a:schemeClr val="dk1"/>
                          </a:solidFill>
                          <a:latin typeface="Times New Roman"/>
                          <a:ea typeface="Times New Roman"/>
                          <a:cs typeface="Times New Roman"/>
                          <a:sym typeface="Times New Roman"/>
                        </a:rPr>
                        <a:t>10</a:t>
                      </a:r>
                      <a:endParaRPr>
                        <a:solidFill>
                          <a:schemeClr val="dk1"/>
                        </a:solidFill>
                        <a:latin typeface="Times New Roman"/>
                        <a:ea typeface="Times New Roman"/>
                        <a:cs typeface="Times New Roman"/>
                        <a:sym typeface="Times New Roman"/>
                      </a:endParaRPr>
                    </a:p>
                  </a:txBody>
                  <a:tcPr marT="76200" marB="76200" marR="142875" marL="142875">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Conclusion</a:t>
                      </a:r>
                      <a:endParaRPr>
                        <a:latin typeface="Times New Roman"/>
                        <a:ea typeface="Times New Roman"/>
                        <a:cs typeface="Times New Roman"/>
                        <a:sym typeface="Times New Roman"/>
                      </a:endParaRPr>
                    </a:p>
                  </a:txBody>
                  <a:tcPr marT="76200" marB="76200" marR="142875" marL="142875">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rtl="0" algn="ctr">
                        <a:spcBef>
                          <a:spcPts val="0"/>
                        </a:spcBef>
                        <a:spcAft>
                          <a:spcPts val="0"/>
                        </a:spcAft>
                        <a:buNone/>
                      </a:pPr>
                      <a:r>
                        <a:rPr b="1" lang="en-IN">
                          <a:solidFill>
                            <a:srgbClr val="052358"/>
                          </a:solidFill>
                          <a:latin typeface="Times New Roman"/>
                          <a:ea typeface="Times New Roman"/>
                          <a:cs typeface="Times New Roman"/>
                          <a:sym typeface="Times New Roman"/>
                        </a:rPr>
                        <a:t>12</a:t>
                      </a:r>
                      <a:endParaRPr b="1">
                        <a:solidFill>
                          <a:srgbClr val="052358"/>
                        </a:solidFill>
                        <a:latin typeface="Times New Roman"/>
                        <a:ea typeface="Times New Roman"/>
                        <a:cs typeface="Times New Roman"/>
                        <a:sym typeface="Times New Roman"/>
                      </a:endParaRPr>
                    </a:p>
                  </a:txBody>
                  <a:tcPr marT="76200" marB="76200" marR="142875" marL="142875">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bl>
          </a:graphicData>
        </a:graphic>
      </p:graphicFrame>
      <p:pic>
        <p:nvPicPr>
          <p:cNvPr id="99" name="Google Shape;99;p13"/>
          <p:cNvPicPr preferRelativeResize="0"/>
          <p:nvPr/>
        </p:nvPicPr>
        <p:blipFill rotWithShape="1">
          <a:blip r:embed="rId6">
            <a:alphaModFix/>
          </a:blip>
          <a:srcRect b="0" l="0" r="3663" t="0"/>
          <a:stretch/>
        </p:blipFill>
        <p:spPr>
          <a:xfrm>
            <a:off x="1385889" y="0"/>
            <a:ext cx="2576512" cy="91968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14"/>
          <p:cNvPicPr preferRelativeResize="0"/>
          <p:nvPr/>
        </p:nvPicPr>
        <p:blipFill rotWithShape="1">
          <a:blip r:embed="rId3">
            <a:alphaModFix/>
          </a:blip>
          <a:srcRect b="0" l="0" r="0" t="0"/>
          <a:stretch/>
        </p:blipFill>
        <p:spPr>
          <a:xfrm>
            <a:off x="600" y="-20450"/>
            <a:ext cx="566975" cy="6878452"/>
          </a:xfrm>
          <a:prstGeom prst="rect">
            <a:avLst/>
          </a:prstGeom>
          <a:noFill/>
          <a:ln>
            <a:noFill/>
          </a:ln>
        </p:spPr>
      </p:pic>
      <p:pic>
        <p:nvPicPr>
          <p:cNvPr id="105" name="Google Shape;105;p14"/>
          <p:cNvPicPr preferRelativeResize="0"/>
          <p:nvPr/>
        </p:nvPicPr>
        <p:blipFill rotWithShape="1">
          <a:blip r:embed="rId4">
            <a:alphaModFix/>
          </a:blip>
          <a:srcRect b="0" l="0" r="0" t="0"/>
          <a:stretch/>
        </p:blipFill>
        <p:spPr>
          <a:xfrm>
            <a:off x="1089950" y="-20450"/>
            <a:ext cx="209675" cy="5461124"/>
          </a:xfrm>
          <a:prstGeom prst="rect">
            <a:avLst/>
          </a:prstGeom>
          <a:noFill/>
          <a:ln>
            <a:noFill/>
          </a:ln>
        </p:spPr>
      </p:pic>
      <p:pic>
        <p:nvPicPr>
          <p:cNvPr id="106" name="Google Shape;106;p14"/>
          <p:cNvPicPr preferRelativeResize="0"/>
          <p:nvPr/>
        </p:nvPicPr>
        <p:blipFill rotWithShape="1">
          <a:blip r:embed="rId5">
            <a:alphaModFix/>
          </a:blip>
          <a:srcRect b="0" l="0" r="0" t="0"/>
          <a:stretch/>
        </p:blipFill>
        <p:spPr>
          <a:xfrm>
            <a:off x="531389" y="-20457"/>
            <a:ext cx="566958" cy="5461138"/>
          </a:xfrm>
          <a:prstGeom prst="rect">
            <a:avLst/>
          </a:prstGeom>
          <a:noFill/>
          <a:ln>
            <a:noFill/>
          </a:ln>
        </p:spPr>
      </p:pic>
      <p:sp>
        <p:nvSpPr>
          <p:cNvPr id="107" name="Google Shape;107;p14"/>
          <p:cNvSpPr txBox="1"/>
          <p:nvPr>
            <p:ph type="ctrTitle"/>
          </p:nvPr>
        </p:nvSpPr>
        <p:spPr>
          <a:xfrm>
            <a:off x="8257406" y="2740265"/>
            <a:ext cx="3733500" cy="2331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endParaRPr sz="2400">
              <a:solidFill>
                <a:srgbClr val="C00000"/>
              </a:solidFill>
            </a:endParaRPr>
          </a:p>
        </p:txBody>
      </p:sp>
      <p:sp>
        <p:nvSpPr>
          <p:cNvPr id="108" name="Google Shape;108;p14"/>
          <p:cNvSpPr txBox="1"/>
          <p:nvPr/>
        </p:nvSpPr>
        <p:spPr>
          <a:xfrm>
            <a:off x="1534697" y="1603661"/>
            <a:ext cx="6373800" cy="534628"/>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100"/>
              <a:buFont typeface="Arial"/>
              <a:buNone/>
            </a:pPr>
            <a:r>
              <a:rPr b="1" i="0" lang="en-IN" sz="3100" u="none" cap="none" strike="noStrike">
                <a:solidFill>
                  <a:srgbClr val="C00000"/>
                </a:solidFill>
                <a:latin typeface="Times New Roman"/>
                <a:ea typeface="Times New Roman"/>
                <a:cs typeface="Times New Roman"/>
                <a:sym typeface="Times New Roman"/>
              </a:rPr>
              <a:t>Problem Statement</a:t>
            </a:r>
            <a:endParaRPr b="1" i="0" sz="3100" u="none" cap="none" strike="noStrike">
              <a:solidFill>
                <a:srgbClr val="C00000"/>
              </a:solidFill>
              <a:latin typeface="Times New Roman"/>
              <a:ea typeface="Times New Roman"/>
              <a:cs typeface="Times New Roman"/>
              <a:sym typeface="Times New Roman"/>
            </a:endParaRPr>
          </a:p>
        </p:txBody>
      </p:sp>
      <p:pic>
        <p:nvPicPr>
          <p:cNvPr id="109" name="Google Shape;109;p14"/>
          <p:cNvPicPr preferRelativeResize="0"/>
          <p:nvPr/>
        </p:nvPicPr>
        <p:blipFill rotWithShape="1">
          <a:blip r:embed="rId6">
            <a:alphaModFix/>
          </a:blip>
          <a:srcRect b="0" l="0" r="3663" t="0"/>
          <a:stretch/>
        </p:blipFill>
        <p:spPr>
          <a:xfrm>
            <a:off x="1385889" y="0"/>
            <a:ext cx="2576512" cy="919684"/>
          </a:xfrm>
          <a:prstGeom prst="rect">
            <a:avLst/>
          </a:prstGeom>
          <a:noFill/>
          <a:ln>
            <a:noFill/>
          </a:ln>
        </p:spPr>
      </p:pic>
      <p:sp>
        <p:nvSpPr>
          <p:cNvPr id="110" name="Google Shape;110;p14"/>
          <p:cNvSpPr txBox="1"/>
          <p:nvPr/>
        </p:nvSpPr>
        <p:spPr>
          <a:xfrm>
            <a:off x="1610350" y="2394750"/>
            <a:ext cx="10166700" cy="2770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IN" sz="2400">
                <a:latin typeface="Times New Roman"/>
                <a:ea typeface="Times New Roman"/>
                <a:cs typeface="Times New Roman"/>
                <a:sym typeface="Times New Roman"/>
              </a:rPr>
              <a:t>Performing data analysis and machine learning is often inaccessible due to the requirement of high technical expertise, extensive coding effort, and the lack of integrated tools. Existing tools primarily focus on tabular data and lack unified support for unstructured data modalities. This creates a need for a user-guided, no-code system that enables seamless execution of EDA, data preprocessing, dimensionality reduction, and machine learning modeling through an interactive interface.</a:t>
            </a:r>
            <a:endParaRPr sz="24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id="115" name="Google Shape;115;p15"/>
          <p:cNvPicPr preferRelativeResize="0"/>
          <p:nvPr/>
        </p:nvPicPr>
        <p:blipFill rotWithShape="1">
          <a:blip r:embed="rId3">
            <a:alphaModFix/>
          </a:blip>
          <a:srcRect b="0" l="0" r="0" t="0"/>
          <a:stretch/>
        </p:blipFill>
        <p:spPr>
          <a:xfrm>
            <a:off x="600" y="-20450"/>
            <a:ext cx="566975" cy="6878452"/>
          </a:xfrm>
          <a:prstGeom prst="rect">
            <a:avLst/>
          </a:prstGeom>
          <a:noFill/>
          <a:ln>
            <a:noFill/>
          </a:ln>
        </p:spPr>
      </p:pic>
      <p:pic>
        <p:nvPicPr>
          <p:cNvPr id="116" name="Google Shape;116;p15"/>
          <p:cNvPicPr preferRelativeResize="0"/>
          <p:nvPr/>
        </p:nvPicPr>
        <p:blipFill rotWithShape="1">
          <a:blip r:embed="rId4">
            <a:alphaModFix/>
          </a:blip>
          <a:srcRect b="0" l="0" r="0" t="0"/>
          <a:stretch/>
        </p:blipFill>
        <p:spPr>
          <a:xfrm>
            <a:off x="1089950" y="-20450"/>
            <a:ext cx="209675" cy="5461124"/>
          </a:xfrm>
          <a:prstGeom prst="rect">
            <a:avLst/>
          </a:prstGeom>
          <a:noFill/>
          <a:ln>
            <a:noFill/>
          </a:ln>
        </p:spPr>
      </p:pic>
      <p:pic>
        <p:nvPicPr>
          <p:cNvPr id="117" name="Google Shape;117;p15"/>
          <p:cNvPicPr preferRelativeResize="0"/>
          <p:nvPr/>
        </p:nvPicPr>
        <p:blipFill rotWithShape="1">
          <a:blip r:embed="rId5">
            <a:alphaModFix/>
          </a:blip>
          <a:srcRect b="0" l="0" r="0" t="0"/>
          <a:stretch/>
        </p:blipFill>
        <p:spPr>
          <a:xfrm>
            <a:off x="531389" y="-20457"/>
            <a:ext cx="566958" cy="5461138"/>
          </a:xfrm>
          <a:prstGeom prst="rect">
            <a:avLst/>
          </a:prstGeom>
          <a:noFill/>
          <a:ln>
            <a:noFill/>
          </a:ln>
        </p:spPr>
      </p:pic>
      <p:sp>
        <p:nvSpPr>
          <p:cNvPr id="118" name="Google Shape;118;p15"/>
          <p:cNvSpPr txBox="1"/>
          <p:nvPr/>
        </p:nvSpPr>
        <p:spPr>
          <a:xfrm>
            <a:off x="1385888" y="1336347"/>
            <a:ext cx="6373800" cy="534628"/>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100"/>
              <a:buFont typeface="Arial"/>
              <a:buNone/>
            </a:pPr>
            <a:r>
              <a:rPr b="1" i="0" lang="en-IN" sz="3100" u="none" cap="none" strike="noStrike">
                <a:solidFill>
                  <a:srgbClr val="C00000"/>
                </a:solidFill>
                <a:latin typeface="Times New Roman"/>
                <a:ea typeface="Times New Roman"/>
                <a:cs typeface="Times New Roman"/>
                <a:sym typeface="Times New Roman"/>
              </a:rPr>
              <a:t>Introduction</a:t>
            </a:r>
            <a:endParaRPr b="0" i="0" sz="3100" u="none" cap="none" strike="noStrike">
              <a:solidFill>
                <a:srgbClr val="C00000"/>
              </a:solidFill>
              <a:latin typeface="Times New Roman"/>
              <a:ea typeface="Times New Roman"/>
              <a:cs typeface="Times New Roman"/>
              <a:sym typeface="Times New Roman"/>
            </a:endParaRPr>
          </a:p>
        </p:txBody>
      </p:sp>
      <p:pic>
        <p:nvPicPr>
          <p:cNvPr id="119" name="Google Shape;119;p15"/>
          <p:cNvPicPr preferRelativeResize="0"/>
          <p:nvPr/>
        </p:nvPicPr>
        <p:blipFill rotWithShape="1">
          <a:blip r:embed="rId6">
            <a:alphaModFix/>
          </a:blip>
          <a:srcRect b="0" l="0" r="3663" t="0"/>
          <a:stretch/>
        </p:blipFill>
        <p:spPr>
          <a:xfrm>
            <a:off x="1385889" y="0"/>
            <a:ext cx="2576512" cy="919684"/>
          </a:xfrm>
          <a:prstGeom prst="rect">
            <a:avLst/>
          </a:prstGeom>
          <a:noFill/>
          <a:ln>
            <a:noFill/>
          </a:ln>
        </p:spPr>
      </p:pic>
      <p:sp>
        <p:nvSpPr>
          <p:cNvPr id="120" name="Google Shape;120;p15"/>
          <p:cNvSpPr txBox="1"/>
          <p:nvPr/>
        </p:nvSpPr>
        <p:spPr>
          <a:xfrm>
            <a:off x="1575325" y="2208170"/>
            <a:ext cx="9663900" cy="3215100"/>
          </a:xfrm>
          <a:prstGeom prst="rect">
            <a:avLst/>
          </a:prstGeom>
          <a:noFill/>
          <a:ln>
            <a:noFill/>
          </a:ln>
        </p:spPr>
        <p:txBody>
          <a:bodyPr anchorCtr="0" anchor="t" bIns="91425" lIns="91425" spcFirstLastPara="1" rIns="91425" wrap="square" tIns="91425">
            <a:spAutoFit/>
          </a:bodyPr>
          <a:lstStyle/>
          <a:p>
            <a:pPr indent="-368300" lvl="0" marL="457200" rtl="0" algn="just">
              <a:spcBef>
                <a:spcPts val="0"/>
              </a:spcBef>
              <a:spcAft>
                <a:spcPts val="0"/>
              </a:spcAft>
              <a:buSzPts val="2200"/>
              <a:buFont typeface="Times New Roman"/>
              <a:buChar char="●"/>
            </a:pPr>
            <a:r>
              <a:rPr lang="en-IN" sz="2200">
                <a:latin typeface="Times New Roman"/>
                <a:ea typeface="Times New Roman"/>
                <a:cs typeface="Times New Roman"/>
                <a:sym typeface="Times New Roman"/>
              </a:rPr>
              <a:t>The process of analyzing data and building Machine Learning models is often repetitive and requires significant coding for basic tasks.</a:t>
            </a:r>
            <a:endParaRPr sz="2200">
              <a:latin typeface="Times New Roman"/>
              <a:ea typeface="Times New Roman"/>
              <a:cs typeface="Times New Roman"/>
              <a:sym typeface="Times New Roman"/>
            </a:endParaRPr>
          </a:p>
          <a:p>
            <a:pPr indent="0" lvl="0" marL="457200" rtl="0" algn="just">
              <a:spcBef>
                <a:spcPts val="0"/>
              </a:spcBef>
              <a:spcAft>
                <a:spcPts val="0"/>
              </a:spcAft>
              <a:buNone/>
            </a:pPr>
            <a:r>
              <a:t/>
            </a:r>
            <a:endParaRPr sz="2200">
              <a:latin typeface="Times New Roman"/>
              <a:ea typeface="Times New Roman"/>
              <a:cs typeface="Times New Roman"/>
              <a:sym typeface="Times New Roman"/>
            </a:endParaRPr>
          </a:p>
          <a:p>
            <a:pPr indent="-368300" lvl="0" marL="457200" rtl="0" algn="just">
              <a:spcBef>
                <a:spcPts val="0"/>
              </a:spcBef>
              <a:spcAft>
                <a:spcPts val="0"/>
              </a:spcAft>
              <a:buSzPts val="2200"/>
              <a:buFont typeface="Times New Roman"/>
              <a:buChar char="●"/>
            </a:pPr>
            <a:r>
              <a:rPr lang="en-IN" sz="2200">
                <a:latin typeface="Times New Roman"/>
                <a:ea typeface="Times New Roman"/>
                <a:cs typeface="Times New Roman"/>
                <a:sym typeface="Times New Roman"/>
              </a:rPr>
              <a:t>The goal of this project is to build a full-fledged, web-based dashboard that automates exploratory data analysis (EDA), data preprocessing, ML model training and performing NLP tasks.</a:t>
            </a:r>
            <a:endParaRPr sz="2200">
              <a:latin typeface="Times New Roman"/>
              <a:ea typeface="Times New Roman"/>
              <a:cs typeface="Times New Roman"/>
              <a:sym typeface="Times New Roman"/>
            </a:endParaRPr>
          </a:p>
          <a:p>
            <a:pPr indent="0" lvl="0" marL="457200" rtl="0" algn="just">
              <a:spcBef>
                <a:spcPts val="0"/>
              </a:spcBef>
              <a:spcAft>
                <a:spcPts val="0"/>
              </a:spcAft>
              <a:buNone/>
            </a:pPr>
            <a:r>
              <a:t/>
            </a:r>
            <a:endParaRPr sz="2200">
              <a:latin typeface="Times New Roman"/>
              <a:ea typeface="Times New Roman"/>
              <a:cs typeface="Times New Roman"/>
              <a:sym typeface="Times New Roman"/>
            </a:endParaRPr>
          </a:p>
          <a:p>
            <a:pPr indent="-368300" lvl="0" marL="457200" rtl="0" algn="just">
              <a:spcBef>
                <a:spcPts val="0"/>
              </a:spcBef>
              <a:spcAft>
                <a:spcPts val="0"/>
              </a:spcAft>
              <a:buSzPts val="2200"/>
              <a:buFont typeface="Times New Roman"/>
              <a:buChar char="●"/>
            </a:pPr>
            <a:r>
              <a:rPr lang="en-IN" sz="2200">
                <a:latin typeface="Times New Roman"/>
                <a:ea typeface="Times New Roman"/>
                <a:cs typeface="Times New Roman"/>
                <a:sym typeface="Times New Roman"/>
              </a:rPr>
              <a:t>It empowers users to build and run End-to-End ML pipelines entirely from their browser.</a:t>
            </a:r>
            <a:endParaRPr sz="22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16"/>
          <p:cNvPicPr preferRelativeResize="0"/>
          <p:nvPr/>
        </p:nvPicPr>
        <p:blipFill rotWithShape="1">
          <a:blip r:embed="rId3">
            <a:alphaModFix/>
          </a:blip>
          <a:srcRect b="0" l="0" r="0" t="0"/>
          <a:stretch/>
        </p:blipFill>
        <p:spPr>
          <a:xfrm>
            <a:off x="600" y="-20450"/>
            <a:ext cx="566975" cy="6878452"/>
          </a:xfrm>
          <a:prstGeom prst="rect">
            <a:avLst/>
          </a:prstGeom>
          <a:noFill/>
          <a:ln>
            <a:noFill/>
          </a:ln>
        </p:spPr>
      </p:pic>
      <p:pic>
        <p:nvPicPr>
          <p:cNvPr id="126" name="Google Shape;126;p16"/>
          <p:cNvPicPr preferRelativeResize="0"/>
          <p:nvPr/>
        </p:nvPicPr>
        <p:blipFill rotWithShape="1">
          <a:blip r:embed="rId4">
            <a:alphaModFix/>
          </a:blip>
          <a:srcRect b="0" l="0" r="0" t="0"/>
          <a:stretch/>
        </p:blipFill>
        <p:spPr>
          <a:xfrm>
            <a:off x="1089950" y="-20450"/>
            <a:ext cx="209675" cy="5461124"/>
          </a:xfrm>
          <a:prstGeom prst="rect">
            <a:avLst/>
          </a:prstGeom>
          <a:noFill/>
          <a:ln>
            <a:noFill/>
          </a:ln>
        </p:spPr>
      </p:pic>
      <p:pic>
        <p:nvPicPr>
          <p:cNvPr id="127" name="Google Shape;127;p16"/>
          <p:cNvPicPr preferRelativeResize="0"/>
          <p:nvPr/>
        </p:nvPicPr>
        <p:blipFill rotWithShape="1">
          <a:blip r:embed="rId5">
            <a:alphaModFix/>
          </a:blip>
          <a:srcRect b="0" l="0" r="0" t="0"/>
          <a:stretch/>
        </p:blipFill>
        <p:spPr>
          <a:xfrm>
            <a:off x="531389" y="-20457"/>
            <a:ext cx="566958" cy="5461138"/>
          </a:xfrm>
          <a:prstGeom prst="rect">
            <a:avLst/>
          </a:prstGeom>
          <a:noFill/>
          <a:ln>
            <a:noFill/>
          </a:ln>
        </p:spPr>
      </p:pic>
      <p:sp>
        <p:nvSpPr>
          <p:cNvPr id="128" name="Google Shape;128;p16"/>
          <p:cNvSpPr txBox="1"/>
          <p:nvPr>
            <p:ph type="ctrTitle"/>
          </p:nvPr>
        </p:nvSpPr>
        <p:spPr>
          <a:xfrm>
            <a:off x="8243756" y="2399415"/>
            <a:ext cx="3733500" cy="2331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endParaRPr sz="2400">
              <a:solidFill>
                <a:srgbClr val="C00000"/>
              </a:solidFill>
            </a:endParaRPr>
          </a:p>
        </p:txBody>
      </p:sp>
      <p:sp>
        <p:nvSpPr>
          <p:cNvPr id="129" name="Google Shape;129;p16"/>
          <p:cNvSpPr txBox="1"/>
          <p:nvPr/>
        </p:nvSpPr>
        <p:spPr>
          <a:xfrm>
            <a:off x="1521047" y="1262811"/>
            <a:ext cx="6373800" cy="520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100"/>
              <a:buFont typeface="Arial"/>
              <a:buNone/>
            </a:pPr>
            <a:r>
              <a:rPr b="1" i="0" lang="en-IN" sz="3100" u="none" cap="none" strike="noStrike">
                <a:solidFill>
                  <a:srgbClr val="C00000"/>
                </a:solidFill>
                <a:latin typeface="Times New Roman"/>
                <a:ea typeface="Times New Roman"/>
                <a:cs typeface="Times New Roman"/>
                <a:sym typeface="Times New Roman"/>
              </a:rPr>
              <a:t>Objectives</a:t>
            </a:r>
            <a:endParaRPr b="0" i="0" sz="3100" u="none" cap="none" strike="noStrike">
              <a:solidFill>
                <a:srgbClr val="C00000"/>
              </a:solidFill>
              <a:latin typeface="Times New Roman"/>
              <a:ea typeface="Times New Roman"/>
              <a:cs typeface="Times New Roman"/>
              <a:sym typeface="Times New Roman"/>
            </a:endParaRPr>
          </a:p>
        </p:txBody>
      </p:sp>
      <p:pic>
        <p:nvPicPr>
          <p:cNvPr id="130" name="Google Shape;130;p16"/>
          <p:cNvPicPr preferRelativeResize="0"/>
          <p:nvPr/>
        </p:nvPicPr>
        <p:blipFill rotWithShape="1">
          <a:blip r:embed="rId6">
            <a:alphaModFix/>
          </a:blip>
          <a:srcRect b="0" l="0" r="3663" t="0"/>
          <a:stretch/>
        </p:blipFill>
        <p:spPr>
          <a:xfrm>
            <a:off x="1385889" y="0"/>
            <a:ext cx="2576512" cy="919684"/>
          </a:xfrm>
          <a:prstGeom prst="rect">
            <a:avLst/>
          </a:prstGeom>
          <a:noFill/>
          <a:ln>
            <a:noFill/>
          </a:ln>
        </p:spPr>
      </p:pic>
      <p:sp>
        <p:nvSpPr>
          <p:cNvPr id="131" name="Google Shape;131;p16"/>
          <p:cNvSpPr txBox="1"/>
          <p:nvPr/>
        </p:nvSpPr>
        <p:spPr>
          <a:xfrm>
            <a:off x="1808350" y="2079150"/>
            <a:ext cx="9693600" cy="38790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SzPts val="2400"/>
              <a:buFont typeface="Times New Roman"/>
              <a:buChar char="●"/>
            </a:pPr>
            <a:r>
              <a:rPr lang="en-IN" sz="2400">
                <a:latin typeface="Times New Roman"/>
                <a:ea typeface="Times New Roman"/>
                <a:cs typeface="Times New Roman"/>
                <a:sym typeface="Times New Roman"/>
              </a:rPr>
              <a:t>To design and develop a web-based platform for data preprocessing,  EDA (exploratory data analysis) and machine learning algorithms.</a:t>
            </a:r>
            <a:endParaRPr sz="2400">
              <a:latin typeface="Times New Roman"/>
              <a:ea typeface="Times New Roman"/>
              <a:cs typeface="Times New Roman"/>
              <a:sym typeface="Times New Roman"/>
            </a:endParaRPr>
          </a:p>
          <a:p>
            <a:pPr indent="0" lvl="0" marL="457200" rtl="0" algn="l">
              <a:spcBef>
                <a:spcPts val="0"/>
              </a:spcBef>
              <a:spcAft>
                <a:spcPts val="0"/>
              </a:spcAft>
              <a:buNone/>
            </a:pPr>
            <a:r>
              <a:t/>
            </a:r>
            <a:endParaRPr sz="2400">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Char char="●"/>
            </a:pPr>
            <a:r>
              <a:rPr lang="en-IN" sz="2400">
                <a:latin typeface="Times New Roman"/>
                <a:ea typeface="Times New Roman"/>
                <a:cs typeface="Times New Roman"/>
                <a:sym typeface="Times New Roman"/>
              </a:rPr>
              <a:t>Allow users to seamlessly upload and merge multiple datasets.</a:t>
            </a:r>
            <a:endParaRPr sz="2400">
              <a:latin typeface="Times New Roman"/>
              <a:ea typeface="Times New Roman"/>
              <a:cs typeface="Times New Roman"/>
              <a:sym typeface="Times New Roman"/>
            </a:endParaRPr>
          </a:p>
          <a:p>
            <a:pPr indent="0" lvl="0" marL="0" rtl="0" algn="l">
              <a:spcBef>
                <a:spcPts val="0"/>
              </a:spcBef>
              <a:spcAft>
                <a:spcPts val="0"/>
              </a:spcAft>
              <a:buNone/>
            </a:pPr>
            <a:r>
              <a:t/>
            </a:r>
            <a:endParaRPr sz="2400">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Char char="●"/>
            </a:pPr>
            <a:r>
              <a:rPr lang="en-IN" sz="2400">
                <a:latin typeface="Times New Roman"/>
                <a:ea typeface="Times New Roman"/>
                <a:cs typeface="Times New Roman"/>
                <a:sym typeface="Times New Roman"/>
              </a:rPr>
              <a:t>Provide one-click tools for cleaning data, handling missing values, encoding, and scaling.</a:t>
            </a:r>
            <a:endParaRPr sz="2400">
              <a:latin typeface="Times New Roman"/>
              <a:ea typeface="Times New Roman"/>
              <a:cs typeface="Times New Roman"/>
              <a:sym typeface="Times New Roman"/>
            </a:endParaRPr>
          </a:p>
          <a:p>
            <a:pPr indent="0" lvl="0" marL="0" rtl="0" algn="l">
              <a:spcBef>
                <a:spcPts val="0"/>
              </a:spcBef>
              <a:spcAft>
                <a:spcPts val="0"/>
              </a:spcAft>
              <a:buNone/>
            </a:pPr>
            <a:r>
              <a:t/>
            </a:r>
            <a:endParaRPr sz="2400">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Char char="●"/>
            </a:pPr>
            <a:r>
              <a:rPr lang="en-IN" sz="2400">
                <a:latin typeface="Times New Roman"/>
                <a:ea typeface="Times New Roman"/>
                <a:cs typeface="Times New Roman"/>
                <a:sym typeface="Times New Roman"/>
              </a:rPr>
              <a:t>To enable exploratory analysis and machine learning on unstructured data by converting it into structured feature embeddings.</a:t>
            </a:r>
            <a:endParaRPr sz="24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17"/>
          <p:cNvPicPr preferRelativeResize="0"/>
          <p:nvPr/>
        </p:nvPicPr>
        <p:blipFill rotWithShape="1">
          <a:blip r:embed="rId3">
            <a:alphaModFix/>
          </a:blip>
          <a:srcRect b="0" l="0" r="0" t="0"/>
          <a:stretch/>
        </p:blipFill>
        <p:spPr>
          <a:xfrm>
            <a:off x="600" y="-20450"/>
            <a:ext cx="566975" cy="6878452"/>
          </a:xfrm>
          <a:prstGeom prst="rect">
            <a:avLst/>
          </a:prstGeom>
          <a:noFill/>
          <a:ln>
            <a:noFill/>
          </a:ln>
        </p:spPr>
      </p:pic>
      <p:pic>
        <p:nvPicPr>
          <p:cNvPr id="137" name="Google Shape;137;p17"/>
          <p:cNvPicPr preferRelativeResize="0"/>
          <p:nvPr/>
        </p:nvPicPr>
        <p:blipFill rotWithShape="1">
          <a:blip r:embed="rId4">
            <a:alphaModFix/>
          </a:blip>
          <a:srcRect b="0" l="0" r="0" t="0"/>
          <a:stretch/>
        </p:blipFill>
        <p:spPr>
          <a:xfrm>
            <a:off x="1089950" y="-20450"/>
            <a:ext cx="209675" cy="5461124"/>
          </a:xfrm>
          <a:prstGeom prst="rect">
            <a:avLst/>
          </a:prstGeom>
          <a:noFill/>
          <a:ln>
            <a:noFill/>
          </a:ln>
        </p:spPr>
      </p:pic>
      <p:pic>
        <p:nvPicPr>
          <p:cNvPr id="138" name="Google Shape;138;p17"/>
          <p:cNvPicPr preferRelativeResize="0"/>
          <p:nvPr/>
        </p:nvPicPr>
        <p:blipFill rotWithShape="1">
          <a:blip r:embed="rId5">
            <a:alphaModFix/>
          </a:blip>
          <a:srcRect b="0" l="0" r="0" t="0"/>
          <a:stretch/>
        </p:blipFill>
        <p:spPr>
          <a:xfrm>
            <a:off x="531389" y="-20457"/>
            <a:ext cx="566958" cy="5461138"/>
          </a:xfrm>
          <a:prstGeom prst="rect">
            <a:avLst/>
          </a:prstGeom>
          <a:noFill/>
          <a:ln>
            <a:noFill/>
          </a:ln>
        </p:spPr>
      </p:pic>
      <p:sp>
        <p:nvSpPr>
          <p:cNvPr id="139" name="Google Shape;139;p17"/>
          <p:cNvSpPr txBox="1"/>
          <p:nvPr>
            <p:ph type="ctrTitle"/>
          </p:nvPr>
        </p:nvSpPr>
        <p:spPr>
          <a:xfrm>
            <a:off x="8257406" y="2740265"/>
            <a:ext cx="3733500" cy="2331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endParaRPr sz="2400">
              <a:solidFill>
                <a:srgbClr val="C00000"/>
              </a:solidFill>
            </a:endParaRPr>
          </a:p>
        </p:txBody>
      </p:sp>
      <p:sp>
        <p:nvSpPr>
          <p:cNvPr id="140" name="Google Shape;140;p17"/>
          <p:cNvSpPr txBox="1"/>
          <p:nvPr/>
        </p:nvSpPr>
        <p:spPr>
          <a:xfrm>
            <a:off x="3488363" y="1136732"/>
            <a:ext cx="6817800" cy="804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100"/>
              <a:buFont typeface="Arial"/>
              <a:buNone/>
            </a:pPr>
            <a:r>
              <a:rPr b="1" lang="en-IN" sz="3400">
                <a:solidFill>
                  <a:srgbClr val="C00000"/>
                </a:solidFill>
                <a:latin typeface="Times New Roman"/>
                <a:ea typeface="Times New Roman"/>
                <a:cs typeface="Times New Roman"/>
                <a:sym typeface="Times New Roman"/>
              </a:rPr>
              <a:t>Tech Stack &amp; Libraries Used</a:t>
            </a:r>
            <a:endParaRPr b="0" i="0" sz="3400" u="none" cap="none" strike="noStrike">
              <a:solidFill>
                <a:srgbClr val="C00000"/>
              </a:solidFill>
              <a:latin typeface="Times New Roman"/>
              <a:ea typeface="Times New Roman"/>
              <a:cs typeface="Times New Roman"/>
              <a:sym typeface="Times New Roman"/>
            </a:endParaRPr>
          </a:p>
        </p:txBody>
      </p:sp>
      <p:pic>
        <p:nvPicPr>
          <p:cNvPr id="141" name="Google Shape;141;p17"/>
          <p:cNvPicPr preferRelativeResize="0"/>
          <p:nvPr/>
        </p:nvPicPr>
        <p:blipFill rotWithShape="1">
          <a:blip r:embed="rId6">
            <a:alphaModFix/>
          </a:blip>
          <a:srcRect b="0" l="0" r="3661" t="0"/>
          <a:stretch/>
        </p:blipFill>
        <p:spPr>
          <a:xfrm>
            <a:off x="1385889" y="0"/>
            <a:ext cx="2576512" cy="919684"/>
          </a:xfrm>
          <a:prstGeom prst="rect">
            <a:avLst/>
          </a:prstGeom>
          <a:noFill/>
          <a:ln>
            <a:noFill/>
          </a:ln>
        </p:spPr>
      </p:pic>
      <p:pic>
        <p:nvPicPr>
          <p:cNvPr id="142" name="Google Shape;142;p17"/>
          <p:cNvPicPr preferRelativeResize="0"/>
          <p:nvPr/>
        </p:nvPicPr>
        <p:blipFill>
          <a:blip r:embed="rId7">
            <a:alphaModFix/>
          </a:blip>
          <a:stretch>
            <a:fillRect/>
          </a:stretch>
        </p:blipFill>
        <p:spPr>
          <a:xfrm>
            <a:off x="1565475" y="2257775"/>
            <a:ext cx="2656144" cy="1553925"/>
          </a:xfrm>
          <a:prstGeom prst="rect">
            <a:avLst/>
          </a:prstGeom>
          <a:noFill/>
          <a:ln>
            <a:noFill/>
          </a:ln>
        </p:spPr>
      </p:pic>
      <p:pic>
        <p:nvPicPr>
          <p:cNvPr id="143" name="Google Shape;143;p17"/>
          <p:cNvPicPr preferRelativeResize="0"/>
          <p:nvPr/>
        </p:nvPicPr>
        <p:blipFill>
          <a:blip r:embed="rId8">
            <a:alphaModFix/>
          </a:blip>
          <a:stretch>
            <a:fillRect/>
          </a:stretch>
        </p:blipFill>
        <p:spPr>
          <a:xfrm>
            <a:off x="4628975" y="2210313"/>
            <a:ext cx="3115234" cy="1648850"/>
          </a:xfrm>
          <a:prstGeom prst="rect">
            <a:avLst/>
          </a:prstGeom>
          <a:noFill/>
          <a:ln>
            <a:noFill/>
          </a:ln>
        </p:spPr>
      </p:pic>
      <p:pic>
        <p:nvPicPr>
          <p:cNvPr id="144" name="Google Shape;144;p17"/>
          <p:cNvPicPr preferRelativeResize="0"/>
          <p:nvPr/>
        </p:nvPicPr>
        <p:blipFill>
          <a:blip r:embed="rId9">
            <a:alphaModFix/>
          </a:blip>
          <a:stretch>
            <a:fillRect/>
          </a:stretch>
        </p:blipFill>
        <p:spPr>
          <a:xfrm>
            <a:off x="1683913" y="4306450"/>
            <a:ext cx="2419275" cy="1304500"/>
          </a:xfrm>
          <a:prstGeom prst="rect">
            <a:avLst/>
          </a:prstGeom>
          <a:noFill/>
          <a:ln>
            <a:noFill/>
          </a:ln>
        </p:spPr>
      </p:pic>
      <p:pic>
        <p:nvPicPr>
          <p:cNvPr id="145" name="Google Shape;145;p17"/>
          <p:cNvPicPr preferRelativeResize="0"/>
          <p:nvPr/>
        </p:nvPicPr>
        <p:blipFill>
          <a:blip r:embed="rId10">
            <a:alphaModFix/>
          </a:blip>
          <a:stretch>
            <a:fillRect/>
          </a:stretch>
        </p:blipFill>
        <p:spPr>
          <a:xfrm>
            <a:off x="8151550" y="2415688"/>
            <a:ext cx="3733500" cy="1238093"/>
          </a:xfrm>
          <a:prstGeom prst="rect">
            <a:avLst/>
          </a:prstGeom>
          <a:noFill/>
          <a:ln>
            <a:noFill/>
          </a:ln>
        </p:spPr>
      </p:pic>
      <p:pic>
        <p:nvPicPr>
          <p:cNvPr id="146" name="Google Shape;146;p17"/>
          <p:cNvPicPr preferRelativeResize="0"/>
          <p:nvPr/>
        </p:nvPicPr>
        <p:blipFill rotWithShape="1">
          <a:blip r:embed="rId11">
            <a:alphaModFix/>
          </a:blip>
          <a:srcRect b="38224" l="13307" r="12931" t="37733"/>
          <a:stretch/>
        </p:blipFill>
        <p:spPr>
          <a:xfrm>
            <a:off x="4487500" y="4306450"/>
            <a:ext cx="4819526" cy="1184951"/>
          </a:xfrm>
          <a:prstGeom prst="rect">
            <a:avLst/>
          </a:prstGeom>
          <a:noFill/>
          <a:ln>
            <a:noFill/>
          </a:ln>
        </p:spPr>
      </p:pic>
      <p:pic>
        <p:nvPicPr>
          <p:cNvPr id="147" name="Google Shape;147;p17"/>
          <p:cNvPicPr preferRelativeResize="0"/>
          <p:nvPr/>
        </p:nvPicPr>
        <p:blipFill rotWithShape="1">
          <a:blip r:embed="rId12">
            <a:alphaModFix/>
          </a:blip>
          <a:srcRect b="33187" l="0" r="0" t="37422"/>
          <a:stretch/>
        </p:blipFill>
        <p:spPr>
          <a:xfrm>
            <a:off x="9534800" y="4635087"/>
            <a:ext cx="2202200" cy="647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18"/>
          <p:cNvPicPr preferRelativeResize="0"/>
          <p:nvPr/>
        </p:nvPicPr>
        <p:blipFill rotWithShape="1">
          <a:blip r:embed="rId3">
            <a:alphaModFix/>
          </a:blip>
          <a:srcRect b="0" l="0" r="0" t="0"/>
          <a:stretch/>
        </p:blipFill>
        <p:spPr>
          <a:xfrm>
            <a:off x="600" y="-20450"/>
            <a:ext cx="566975" cy="6878452"/>
          </a:xfrm>
          <a:prstGeom prst="rect">
            <a:avLst/>
          </a:prstGeom>
          <a:noFill/>
          <a:ln>
            <a:noFill/>
          </a:ln>
        </p:spPr>
      </p:pic>
      <p:pic>
        <p:nvPicPr>
          <p:cNvPr id="153" name="Google Shape;153;p18"/>
          <p:cNvPicPr preferRelativeResize="0"/>
          <p:nvPr/>
        </p:nvPicPr>
        <p:blipFill rotWithShape="1">
          <a:blip r:embed="rId4">
            <a:alphaModFix/>
          </a:blip>
          <a:srcRect b="0" l="0" r="0" t="0"/>
          <a:stretch/>
        </p:blipFill>
        <p:spPr>
          <a:xfrm>
            <a:off x="1089950" y="-20450"/>
            <a:ext cx="209675" cy="5461124"/>
          </a:xfrm>
          <a:prstGeom prst="rect">
            <a:avLst/>
          </a:prstGeom>
          <a:noFill/>
          <a:ln>
            <a:noFill/>
          </a:ln>
        </p:spPr>
      </p:pic>
      <p:pic>
        <p:nvPicPr>
          <p:cNvPr id="154" name="Google Shape;154;p18"/>
          <p:cNvPicPr preferRelativeResize="0"/>
          <p:nvPr/>
        </p:nvPicPr>
        <p:blipFill rotWithShape="1">
          <a:blip r:embed="rId5">
            <a:alphaModFix/>
          </a:blip>
          <a:srcRect b="0" l="0" r="0" t="0"/>
          <a:stretch/>
        </p:blipFill>
        <p:spPr>
          <a:xfrm>
            <a:off x="531389" y="-20457"/>
            <a:ext cx="566958" cy="5461138"/>
          </a:xfrm>
          <a:prstGeom prst="rect">
            <a:avLst/>
          </a:prstGeom>
          <a:noFill/>
          <a:ln>
            <a:noFill/>
          </a:ln>
        </p:spPr>
      </p:pic>
      <p:sp>
        <p:nvSpPr>
          <p:cNvPr id="155" name="Google Shape;155;p18"/>
          <p:cNvSpPr txBox="1"/>
          <p:nvPr/>
        </p:nvSpPr>
        <p:spPr>
          <a:xfrm>
            <a:off x="1485971" y="1171036"/>
            <a:ext cx="7862400" cy="520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100"/>
              <a:buFont typeface="Arial"/>
              <a:buNone/>
            </a:pPr>
            <a:r>
              <a:rPr b="1" lang="en-IN" sz="3100">
                <a:solidFill>
                  <a:srgbClr val="C00000"/>
                </a:solidFill>
                <a:latin typeface="Times New Roman"/>
                <a:ea typeface="Times New Roman"/>
                <a:cs typeface="Times New Roman"/>
                <a:sym typeface="Times New Roman"/>
              </a:rPr>
              <a:t>Workflow Pipeline</a:t>
            </a:r>
            <a:endParaRPr b="0" i="0" sz="3100" u="none" cap="none" strike="noStrike">
              <a:solidFill>
                <a:srgbClr val="C00000"/>
              </a:solidFill>
              <a:latin typeface="Times New Roman"/>
              <a:ea typeface="Times New Roman"/>
              <a:cs typeface="Times New Roman"/>
              <a:sym typeface="Times New Roman"/>
            </a:endParaRPr>
          </a:p>
        </p:txBody>
      </p:sp>
      <p:pic>
        <p:nvPicPr>
          <p:cNvPr id="156" name="Google Shape;156;p18"/>
          <p:cNvPicPr preferRelativeResize="0"/>
          <p:nvPr/>
        </p:nvPicPr>
        <p:blipFill rotWithShape="1">
          <a:blip r:embed="rId6">
            <a:alphaModFix/>
          </a:blip>
          <a:srcRect b="0" l="0" r="3663" t="0"/>
          <a:stretch/>
        </p:blipFill>
        <p:spPr>
          <a:xfrm>
            <a:off x="1385889" y="0"/>
            <a:ext cx="2576512" cy="919684"/>
          </a:xfrm>
          <a:prstGeom prst="rect">
            <a:avLst/>
          </a:prstGeom>
          <a:noFill/>
          <a:ln>
            <a:noFill/>
          </a:ln>
        </p:spPr>
      </p:pic>
      <p:pic>
        <p:nvPicPr>
          <p:cNvPr id="157" name="Google Shape;157;p18"/>
          <p:cNvPicPr preferRelativeResize="0"/>
          <p:nvPr/>
        </p:nvPicPr>
        <p:blipFill>
          <a:blip r:embed="rId7">
            <a:alphaModFix/>
          </a:blip>
          <a:stretch>
            <a:fillRect/>
          </a:stretch>
        </p:blipFill>
        <p:spPr>
          <a:xfrm>
            <a:off x="5314225" y="69419"/>
            <a:ext cx="5432786" cy="6788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p19"/>
          <p:cNvPicPr preferRelativeResize="0"/>
          <p:nvPr/>
        </p:nvPicPr>
        <p:blipFill rotWithShape="1">
          <a:blip r:embed="rId3">
            <a:alphaModFix/>
          </a:blip>
          <a:srcRect b="0" l="0" r="0" t="0"/>
          <a:stretch/>
        </p:blipFill>
        <p:spPr>
          <a:xfrm>
            <a:off x="600" y="-20450"/>
            <a:ext cx="566975" cy="6878452"/>
          </a:xfrm>
          <a:prstGeom prst="rect">
            <a:avLst/>
          </a:prstGeom>
          <a:noFill/>
          <a:ln>
            <a:noFill/>
          </a:ln>
        </p:spPr>
      </p:pic>
      <p:pic>
        <p:nvPicPr>
          <p:cNvPr id="163" name="Google Shape;163;p19"/>
          <p:cNvPicPr preferRelativeResize="0"/>
          <p:nvPr/>
        </p:nvPicPr>
        <p:blipFill rotWithShape="1">
          <a:blip r:embed="rId4">
            <a:alphaModFix/>
          </a:blip>
          <a:srcRect b="0" l="0" r="0" t="0"/>
          <a:stretch/>
        </p:blipFill>
        <p:spPr>
          <a:xfrm>
            <a:off x="1089950" y="-20450"/>
            <a:ext cx="209675" cy="5461124"/>
          </a:xfrm>
          <a:prstGeom prst="rect">
            <a:avLst/>
          </a:prstGeom>
          <a:noFill/>
          <a:ln>
            <a:noFill/>
          </a:ln>
        </p:spPr>
      </p:pic>
      <p:pic>
        <p:nvPicPr>
          <p:cNvPr id="164" name="Google Shape;164;p19"/>
          <p:cNvPicPr preferRelativeResize="0"/>
          <p:nvPr/>
        </p:nvPicPr>
        <p:blipFill rotWithShape="1">
          <a:blip r:embed="rId5">
            <a:alphaModFix/>
          </a:blip>
          <a:srcRect b="0" l="0" r="0" t="0"/>
          <a:stretch/>
        </p:blipFill>
        <p:spPr>
          <a:xfrm>
            <a:off x="531389" y="-20457"/>
            <a:ext cx="566958" cy="5461138"/>
          </a:xfrm>
          <a:prstGeom prst="rect">
            <a:avLst/>
          </a:prstGeom>
          <a:noFill/>
          <a:ln>
            <a:noFill/>
          </a:ln>
        </p:spPr>
      </p:pic>
      <p:sp>
        <p:nvSpPr>
          <p:cNvPr id="165" name="Google Shape;165;p19"/>
          <p:cNvSpPr txBox="1"/>
          <p:nvPr>
            <p:ph type="ctrTitle"/>
          </p:nvPr>
        </p:nvSpPr>
        <p:spPr>
          <a:xfrm>
            <a:off x="8257406" y="2740265"/>
            <a:ext cx="3733500" cy="2331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endParaRPr sz="2400">
              <a:solidFill>
                <a:srgbClr val="C00000"/>
              </a:solidFill>
            </a:endParaRPr>
          </a:p>
        </p:txBody>
      </p:sp>
      <p:sp>
        <p:nvSpPr>
          <p:cNvPr id="166" name="Google Shape;166;p19"/>
          <p:cNvSpPr txBox="1"/>
          <p:nvPr/>
        </p:nvSpPr>
        <p:spPr>
          <a:xfrm>
            <a:off x="1508422" y="1019299"/>
            <a:ext cx="6373800" cy="520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100"/>
              <a:buFont typeface="Arial"/>
              <a:buNone/>
            </a:pPr>
            <a:r>
              <a:rPr b="1" lang="en-IN" sz="3100">
                <a:solidFill>
                  <a:srgbClr val="C00000"/>
                </a:solidFill>
                <a:latin typeface="Times New Roman"/>
                <a:ea typeface="Times New Roman"/>
                <a:cs typeface="Times New Roman"/>
                <a:sym typeface="Times New Roman"/>
              </a:rPr>
              <a:t>Progress Achieved So Far…</a:t>
            </a:r>
            <a:endParaRPr b="0" i="0" sz="3100" u="none" cap="none" strike="noStrike">
              <a:solidFill>
                <a:srgbClr val="C00000"/>
              </a:solidFill>
              <a:latin typeface="Times New Roman"/>
              <a:ea typeface="Times New Roman"/>
              <a:cs typeface="Times New Roman"/>
              <a:sym typeface="Times New Roman"/>
            </a:endParaRPr>
          </a:p>
        </p:txBody>
      </p:sp>
      <p:pic>
        <p:nvPicPr>
          <p:cNvPr id="167" name="Google Shape;167;p19"/>
          <p:cNvPicPr preferRelativeResize="0"/>
          <p:nvPr/>
        </p:nvPicPr>
        <p:blipFill rotWithShape="1">
          <a:blip r:embed="rId6">
            <a:alphaModFix/>
          </a:blip>
          <a:srcRect b="0" l="0" r="3661" t="0"/>
          <a:stretch/>
        </p:blipFill>
        <p:spPr>
          <a:xfrm>
            <a:off x="1385889" y="0"/>
            <a:ext cx="2576512" cy="919684"/>
          </a:xfrm>
          <a:prstGeom prst="rect">
            <a:avLst/>
          </a:prstGeom>
          <a:noFill/>
          <a:ln>
            <a:noFill/>
          </a:ln>
        </p:spPr>
      </p:pic>
      <p:sp>
        <p:nvSpPr>
          <p:cNvPr id="168" name="Google Shape;168;p19"/>
          <p:cNvSpPr txBox="1"/>
          <p:nvPr/>
        </p:nvSpPr>
        <p:spPr>
          <a:xfrm>
            <a:off x="1590225" y="1639425"/>
            <a:ext cx="9693600" cy="5156400"/>
          </a:xfrm>
          <a:prstGeom prst="rect">
            <a:avLst/>
          </a:prstGeom>
          <a:noFill/>
          <a:ln>
            <a:noFill/>
          </a:ln>
        </p:spPr>
        <p:txBody>
          <a:bodyPr anchorCtr="0" anchor="t" bIns="91425" lIns="91425" spcFirstLastPara="1" rIns="91425" wrap="square" tIns="91425">
            <a:spAutoFit/>
          </a:bodyPr>
          <a:lstStyle/>
          <a:p>
            <a:pPr indent="-349250" lvl="0" marL="457200" rtl="0" algn="l">
              <a:spcBef>
                <a:spcPts val="0"/>
              </a:spcBef>
              <a:spcAft>
                <a:spcPts val="0"/>
              </a:spcAft>
              <a:buSzPts val="1900"/>
              <a:buFont typeface="Times New Roman"/>
              <a:buChar char="●"/>
            </a:pPr>
            <a:r>
              <a:rPr lang="en-IN" sz="1900">
                <a:latin typeface="Times New Roman"/>
                <a:ea typeface="Times New Roman"/>
                <a:cs typeface="Times New Roman"/>
                <a:sym typeface="Times New Roman"/>
              </a:rPr>
              <a:t>Capability to upload various types of files and perform merges.</a:t>
            </a:r>
            <a:endParaRPr sz="1900">
              <a:latin typeface="Times New Roman"/>
              <a:ea typeface="Times New Roman"/>
              <a:cs typeface="Times New Roman"/>
              <a:sym typeface="Times New Roman"/>
            </a:endParaRPr>
          </a:p>
          <a:p>
            <a:pPr indent="0" lvl="0" marL="457200" rtl="0" algn="l">
              <a:spcBef>
                <a:spcPts val="0"/>
              </a:spcBef>
              <a:spcAft>
                <a:spcPts val="0"/>
              </a:spcAft>
              <a:buNone/>
            </a:pPr>
            <a:r>
              <a:t/>
            </a:r>
            <a:endParaRPr sz="1900">
              <a:latin typeface="Times New Roman"/>
              <a:ea typeface="Times New Roman"/>
              <a:cs typeface="Times New Roman"/>
              <a:sym typeface="Times New Roman"/>
            </a:endParaRPr>
          </a:p>
          <a:p>
            <a:pPr indent="-349250" lvl="0" marL="457200" rtl="0" algn="l">
              <a:spcBef>
                <a:spcPts val="0"/>
              </a:spcBef>
              <a:spcAft>
                <a:spcPts val="0"/>
              </a:spcAft>
              <a:buSzPts val="1900"/>
              <a:buFont typeface="Times New Roman"/>
              <a:buChar char="●"/>
            </a:pPr>
            <a:r>
              <a:rPr lang="en-IN" sz="1900">
                <a:latin typeface="Times New Roman"/>
                <a:ea typeface="Times New Roman"/>
                <a:cs typeface="Times New Roman"/>
                <a:sym typeface="Times New Roman"/>
              </a:rPr>
              <a:t>Comprehensive Preprocessing: Null value imputation, outlier detection &amp; handling automated categorical encoding</a:t>
            </a:r>
            <a:endParaRPr sz="1700">
              <a:latin typeface="Times New Roman"/>
              <a:ea typeface="Times New Roman"/>
              <a:cs typeface="Times New Roman"/>
              <a:sym typeface="Times New Roman"/>
            </a:endParaRPr>
          </a:p>
          <a:p>
            <a:pPr indent="0" lvl="0" marL="457200" rtl="0" algn="l">
              <a:spcBef>
                <a:spcPts val="0"/>
              </a:spcBef>
              <a:spcAft>
                <a:spcPts val="0"/>
              </a:spcAft>
              <a:buNone/>
            </a:pPr>
            <a:r>
              <a:t/>
            </a:r>
            <a:endParaRPr sz="1900">
              <a:latin typeface="Times New Roman"/>
              <a:ea typeface="Times New Roman"/>
              <a:cs typeface="Times New Roman"/>
              <a:sym typeface="Times New Roman"/>
            </a:endParaRPr>
          </a:p>
          <a:p>
            <a:pPr indent="-349250" lvl="0" marL="457200" rtl="0" algn="l">
              <a:spcBef>
                <a:spcPts val="0"/>
              </a:spcBef>
              <a:spcAft>
                <a:spcPts val="0"/>
              </a:spcAft>
              <a:buSzPts val="1900"/>
              <a:buFont typeface="Times New Roman"/>
              <a:buChar char="●"/>
            </a:pPr>
            <a:r>
              <a:rPr lang="en-IN" sz="1900">
                <a:latin typeface="Times New Roman"/>
                <a:ea typeface="Times New Roman"/>
                <a:cs typeface="Times New Roman"/>
                <a:sym typeface="Times New Roman"/>
              </a:rPr>
              <a:t>Dynamic Visualizations: Histograms, Box plots, heatmaps and Violin plots depending on distributions.</a:t>
            </a:r>
            <a:endParaRPr sz="1900">
              <a:latin typeface="Times New Roman"/>
              <a:ea typeface="Times New Roman"/>
              <a:cs typeface="Times New Roman"/>
              <a:sym typeface="Times New Roman"/>
            </a:endParaRPr>
          </a:p>
          <a:p>
            <a:pPr indent="0" lvl="0" marL="457200" rtl="0" algn="l">
              <a:spcBef>
                <a:spcPts val="0"/>
              </a:spcBef>
              <a:spcAft>
                <a:spcPts val="0"/>
              </a:spcAft>
              <a:buNone/>
            </a:pPr>
            <a:r>
              <a:t/>
            </a:r>
            <a:endParaRPr sz="1900">
              <a:latin typeface="Times New Roman"/>
              <a:ea typeface="Times New Roman"/>
              <a:cs typeface="Times New Roman"/>
              <a:sym typeface="Times New Roman"/>
            </a:endParaRPr>
          </a:p>
          <a:p>
            <a:pPr indent="-349250" lvl="0" marL="457200" rtl="0" algn="l">
              <a:spcBef>
                <a:spcPts val="0"/>
              </a:spcBef>
              <a:spcAft>
                <a:spcPts val="0"/>
              </a:spcAft>
              <a:buSzPts val="1900"/>
              <a:buFont typeface="Times New Roman"/>
              <a:buChar char="●"/>
            </a:pPr>
            <a:r>
              <a:rPr lang="en-IN" sz="1900">
                <a:latin typeface="Times New Roman"/>
                <a:ea typeface="Times New Roman"/>
                <a:cs typeface="Times New Roman"/>
                <a:sym typeface="Times New Roman"/>
              </a:rPr>
              <a:t>Implemented support for structured datasets with efficient upload, validation, and preprocessing.</a:t>
            </a:r>
            <a:endParaRPr sz="1900">
              <a:latin typeface="Times New Roman"/>
              <a:ea typeface="Times New Roman"/>
              <a:cs typeface="Times New Roman"/>
              <a:sym typeface="Times New Roman"/>
            </a:endParaRPr>
          </a:p>
          <a:p>
            <a:pPr indent="0" lvl="0" marL="457200" rtl="0" algn="l">
              <a:spcBef>
                <a:spcPts val="0"/>
              </a:spcBef>
              <a:spcAft>
                <a:spcPts val="0"/>
              </a:spcAft>
              <a:buNone/>
            </a:pPr>
            <a:r>
              <a:t/>
            </a:r>
            <a:endParaRPr sz="1900">
              <a:latin typeface="Times New Roman"/>
              <a:ea typeface="Times New Roman"/>
              <a:cs typeface="Times New Roman"/>
              <a:sym typeface="Times New Roman"/>
            </a:endParaRPr>
          </a:p>
          <a:p>
            <a:pPr indent="-349250" lvl="0" marL="457200" rtl="0" algn="l">
              <a:spcBef>
                <a:spcPts val="0"/>
              </a:spcBef>
              <a:spcAft>
                <a:spcPts val="0"/>
              </a:spcAft>
              <a:buSzPts val="1900"/>
              <a:buFont typeface="Times New Roman"/>
              <a:buChar char="●"/>
            </a:pPr>
            <a:r>
              <a:rPr lang="en-IN" sz="1900">
                <a:latin typeface="Times New Roman"/>
                <a:ea typeface="Times New Roman"/>
                <a:cs typeface="Times New Roman"/>
                <a:sym typeface="Times New Roman"/>
              </a:rPr>
              <a:t>Perform Machine Learning Algorithms on preprocessed dataset.</a:t>
            </a:r>
            <a:endParaRPr sz="1900">
              <a:latin typeface="Times New Roman"/>
              <a:ea typeface="Times New Roman"/>
              <a:cs typeface="Times New Roman"/>
              <a:sym typeface="Times New Roman"/>
            </a:endParaRPr>
          </a:p>
          <a:p>
            <a:pPr indent="0" lvl="0" marL="457200" rtl="0" algn="l">
              <a:spcBef>
                <a:spcPts val="0"/>
              </a:spcBef>
              <a:spcAft>
                <a:spcPts val="0"/>
              </a:spcAft>
              <a:buNone/>
            </a:pPr>
            <a:r>
              <a:t/>
            </a:r>
            <a:endParaRPr sz="1900">
              <a:latin typeface="Times New Roman"/>
              <a:ea typeface="Times New Roman"/>
              <a:cs typeface="Times New Roman"/>
              <a:sym typeface="Times New Roman"/>
            </a:endParaRPr>
          </a:p>
          <a:p>
            <a:pPr indent="-349250" lvl="0" marL="457200" rtl="0" algn="l">
              <a:spcBef>
                <a:spcPts val="0"/>
              </a:spcBef>
              <a:spcAft>
                <a:spcPts val="0"/>
              </a:spcAft>
              <a:buSzPts val="1900"/>
              <a:buFont typeface="Times New Roman"/>
              <a:buChar char="●"/>
            </a:pPr>
            <a:r>
              <a:rPr lang="en-IN" sz="1900">
                <a:latin typeface="Times New Roman"/>
                <a:ea typeface="Times New Roman"/>
                <a:cs typeface="Times New Roman"/>
                <a:sym typeface="Times New Roman"/>
              </a:rPr>
              <a:t>Natural Language Processing (NLP): Text cleaning (noise removal, stopword removal, stemming, lemmatization, tokenization), text analysis (lexical analysis, word frequency distributions, word clouds), vectorization, text classification, topic modeling, and document clustering.</a:t>
            </a:r>
            <a:endParaRPr sz="19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id="173" name="Google Shape;173;p20"/>
          <p:cNvPicPr preferRelativeResize="0"/>
          <p:nvPr/>
        </p:nvPicPr>
        <p:blipFill rotWithShape="1">
          <a:blip r:embed="rId3">
            <a:alphaModFix/>
          </a:blip>
          <a:srcRect b="0" l="0" r="0" t="0"/>
          <a:stretch/>
        </p:blipFill>
        <p:spPr>
          <a:xfrm>
            <a:off x="600" y="-20450"/>
            <a:ext cx="566975" cy="6878452"/>
          </a:xfrm>
          <a:prstGeom prst="rect">
            <a:avLst/>
          </a:prstGeom>
          <a:noFill/>
          <a:ln>
            <a:noFill/>
          </a:ln>
        </p:spPr>
      </p:pic>
      <p:pic>
        <p:nvPicPr>
          <p:cNvPr id="174" name="Google Shape;174;p20"/>
          <p:cNvPicPr preferRelativeResize="0"/>
          <p:nvPr/>
        </p:nvPicPr>
        <p:blipFill rotWithShape="1">
          <a:blip r:embed="rId4">
            <a:alphaModFix/>
          </a:blip>
          <a:srcRect b="0" l="0" r="0" t="0"/>
          <a:stretch/>
        </p:blipFill>
        <p:spPr>
          <a:xfrm>
            <a:off x="1089950" y="-20450"/>
            <a:ext cx="209675" cy="5461124"/>
          </a:xfrm>
          <a:prstGeom prst="rect">
            <a:avLst/>
          </a:prstGeom>
          <a:noFill/>
          <a:ln>
            <a:noFill/>
          </a:ln>
        </p:spPr>
      </p:pic>
      <p:pic>
        <p:nvPicPr>
          <p:cNvPr id="175" name="Google Shape;175;p20"/>
          <p:cNvPicPr preferRelativeResize="0"/>
          <p:nvPr/>
        </p:nvPicPr>
        <p:blipFill rotWithShape="1">
          <a:blip r:embed="rId5">
            <a:alphaModFix/>
          </a:blip>
          <a:srcRect b="0" l="0" r="0" t="0"/>
          <a:stretch/>
        </p:blipFill>
        <p:spPr>
          <a:xfrm>
            <a:off x="531389" y="-20457"/>
            <a:ext cx="566958" cy="5461138"/>
          </a:xfrm>
          <a:prstGeom prst="rect">
            <a:avLst/>
          </a:prstGeom>
          <a:noFill/>
          <a:ln>
            <a:noFill/>
          </a:ln>
        </p:spPr>
      </p:pic>
      <p:sp>
        <p:nvSpPr>
          <p:cNvPr id="176" name="Google Shape;176;p20"/>
          <p:cNvSpPr txBox="1"/>
          <p:nvPr>
            <p:ph type="ctrTitle"/>
          </p:nvPr>
        </p:nvSpPr>
        <p:spPr>
          <a:xfrm>
            <a:off x="8257406" y="2740265"/>
            <a:ext cx="3733500" cy="2331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endParaRPr sz="2400">
              <a:solidFill>
                <a:srgbClr val="C00000"/>
              </a:solidFill>
            </a:endParaRPr>
          </a:p>
        </p:txBody>
      </p:sp>
      <p:sp>
        <p:nvSpPr>
          <p:cNvPr id="177" name="Google Shape;177;p20"/>
          <p:cNvSpPr txBox="1"/>
          <p:nvPr/>
        </p:nvSpPr>
        <p:spPr>
          <a:xfrm>
            <a:off x="1522072" y="1142024"/>
            <a:ext cx="6373800" cy="520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100"/>
              <a:buFont typeface="Arial"/>
              <a:buNone/>
            </a:pPr>
            <a:r>
              <a:rPr b="1" lang="en-IN" sz="3100">
                <a:solidFill>
                  <a:srgbClr val="C00000"/>
                </a:solidFill>
                <a:latin typeface="Times New Roman"/>
                <a:ea typeface="Times New Roman"/>
                <a:cs typeface="Times New Roman"/>
                <a:sym typeface="Times New Roman"/>
              </a:rPr>
              <a:t>Remaining Developments…</a:t>
            </a:r>
            <a:endParaRPr b="0" i="0" sz="3100" u="none" cap="none" strike="noStrike">
              <a:solidFill>
                <a:srgbClr val="C00000"/>
              </a:solidFill>
              <a:latin typeface="Times New Roman"/>
              <a:ea typeface="Times New Roman"/>
              <a:cs typeface="Times New Roman"/>
              <a:sym typeface="Times New Roman"/>
            </a:endParaRPr>
          </a:p>
        </p:txBody>
      </p:sp>
      <p:pic>
        <p:nvPicPr>
          <p:cNvPr id="178" name="Google Shape;178;p20"/>
          <p:cNvPicPr preferRelativeResize="0"/>
          <p:nvPr/>
        </p:nvPicPr>
        <p:blipFill rotWithShape="1">
          <a:blip r:embed="rId6">
            <a:alphaModFix/>
          </a:blip>
          <a:srcRect b="0" l="0" r="3661" t="0"/>
          <a:stretch/>
        </p:blipFill>
        <p:spPr>
          <a:xfrm>
            <a:off x="1385889" y="0"/>
            <a:ext cx="2576512" cy="919684"/>
          </a:xfrm>
          <a:prstGeom prst="rect">
            <a:avLst/>
          </a:prstGeom>
          <a:noFill/>
          <a:ln>
            <a:noFill/>
          </a:ln>
        </p:spPr>
      </p:pic>
      <p:sp>
        <p:nvSpPr>
          <p:cNvPr id="179" name="Google Shape;179;p20"/>
          <p:cNvSpPr txBox="1"/>
          <p:nvPr/>
        </p:nvSpPr>
        <p:spPr>
          <a:xfrm>
            <a:off x="1822000" y="2006050"/>
            <a:ext cx="96936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400">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Char char="●"/>
            </a:pPr>
            <a:r>
              <a:rPr lang="en-IN" sz="2400">
                <a:latin typeface="Times New Roman"/>
                <a:ea typeface="Times New Roman"/>
                <a:cs typeface="Times New Roman"/>
                <a:sym typeface="Times New Roman"/>
              </a:rPr>
              <a:t>Feature to upload image as dataset.</a:t>
            </a:r>
            <a:endParaRPr sz="2400">
              <a:latin typeface="Times New Roman"/>
              <a:ea typeface="Times New Roman"/>
              <a:cs typeface="Times New Roman"/>
              <a:sym typeface="Times New Roman"/>
            </a:endParaRPr>
          </a:p>
          <a:p>
            <a:pPr indent="0" lvl="0" marL="457200" rtl="0" algn="l">
              <a:spcBef>
                <a:spcPts val="0"/>
              </a:spcBef>
              <a:spcAft>
                <a:spcPts val="0"/>
              </a:spcAft>
              <a:buNone/>
            </a:pPr>
            <a:r>
              <a:t/>
            </a:r>
            <a:endParaRPr sz="2400">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Char char="●"/>
            </a:pPr>
            <a:r>
              <a:rPr lang="en-IN" sz="2400">
                <a:latin typeface="Times New Roman"/>
                <a:ea typeface="Times New Roman"/>
                <a:cs typeface="Times New Roman"/>
                <a:sym typeface="Times New Roman"/>
              </a:rPr>
              <a:t>Unifying all apps into one single platform. Eliminate the need to switch between different software, improving efficiency and providing a seamless user experience.</a:t>
            </a:r>
            <a:endParaRPr sz="24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id="184" name="Google Shape;184;p21"/>
          <p:cNvPicPr preferRelativeResize="0"/>
          <p:nvPr/>
        </p:nvPicPr>
        <p:blipFill rotWithShape="1">
          <a:blip r:embed="rId3">
            <a:alphaModFix/>
          </a:blip>
          <a:srcRect b="0" l="0" r="0" t="0"/>
          <a:stretch/>
        </p:blipFill>
        <p:spPr>
          <a:xfrm>
            <a:off x="600" y="-20450"/>
            <a:ext cx="566975" cy="6878452"/>
          </a:xfrm>
          <a:prstGeom prst="rect">
            <a:avLst/>
          </a:prstGeom>
          <a:noFill/>
          <a:ln>
            <a:noFill/>
          </a:ln>
        </p:spPr>
      </p:pic>
      <p:pic>
        <p:nvPicPr>
          <p:cNvPr id="185" name="Google Shape;185;p21"/>
          <p:cNvPicPr preferRelativeResize="0"/>
          <p:nvPr/>
        </p:nvPicPr>
        <p:blipFill rotWithShape="1">
          <a:blip r:embed="rId4">
            <a:alphaModFix/>
          </a:blip>
          <a:srcRect b="0" l="0" r="0" t="0"/>
          <a:stretch/>
        </p:blipFill>
        <p:spPr>
          <a:xfrm>
            <a:off x="1089950" y="-20450"/>
            <a:ext cx="209675" cy="5461124"/>
          </a:xfrm>
          <a:prstGeom prst="rect">
            <a:avLst/>
          </a:prstGeom>
          <a:noFill/>
          <a:ln>
            <a:noFill/>
          </a:ln>
        </p:spPr>
      </p:pic>
      <p:pic>
        <p:nvPicPr>
          <p:cNvPr id="186" name="Google Shape;186;p21"/>
          <p:cNvPicPr preferRelativeResize="0"/>
          <p:nvPr/>
        </p:nvPicPr>
        <p:blipFill rotWithShape="1">
          <a:blip r:embed="rId5">
            <a:alphaModFix/>
          </a:blip>
          <a:srcRect b="0" l="0" r="0" t="0"/>
          <a:stretch/>
        </p:blipFill>
        <p:spPr>
          <a:xfrm>
            <a:off x="531389" y="-20457"/>
            <a:ext cx="566958" cy="5461138"/>
          </a:xfrm>
          <a:prstGeom prst="rect">
            <a:avLst/>
          </a:prstGeom>
          <a:noFill/>
          <a:ln>
            <a:noFill/>
          </a:ln>
        </p:spPr>
      </p:pic>
      <p:sp>
        <p:nvSpPr>
          <p:cNvPr id="187" name="Google Shape;187;p21"/>
          <p:cNvSpPr txBox="1"/>
          <p:nvPr>
            <p:ph type="ctrTitle"/>
          </p:nvPr>
        </p:nvSpPr>
        <p:spPr>
          <a:xfrm>
            <a:off x="8257406" y="2740265"/>
            <a:ext cx="3733500" cy="2331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endParaRPr sz="2400">
              <a:solidFill>
                <a:srgbClr val="C00000"/>
              </a:solidFill>
            </a:endParaRPr>
          </a:p>
        </p:txBody>
      </p:sp>
      <p:sp>
        <p:nvSpPr>
          <p:cNvPr id="188" name="Google Shape;188;p21"/>
          <p:cNvSpPr txBox="1"/>
          <p:nvPr/>
        </p:nvSpPr>
        <p:spPr>
          <a:xfrm>
            <a:off x="1686275" y="1315050"/>
            <a:ext cx="3807000" cy="1581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100"/>
              <a:buFont typeface="Arial"/>
              <a:buNone/>
            </a:pPr>
            <a:r>
              <a:rPr b="1" lang="en-IN" sz="3100">
                <a:solidFill>
                  <a:srgbClr val="C00000"/>
                </a:solidFill>
                <a:latin typeface="Times New Roman"/>
                <a:ea typeface="Times New Roman"/>
                <a:cs typeface="Times New Roman"/>
                <a:sym typeface="Times New Roman"/>
              </a:rPr>
              <a:t>Review </a:t>
            </a:r>
            <a:r>
              <a:rPr b="1" lang="en-IN" sz="3100">
                <a:solidFill>
                  <a:srgbClr val="C00000"/>
                </a:solidFill>
                <a:latin typeface="Times New Roman"/>
                <a:ea typeface="Times New Roman"/>
                <a:cs typeface="Times New Roman"/>
                <a:sym typeface="Times New Roman"/>
              </a:rPr>
              <a:t>Paper Published</a:t>
            </a:r>
            <a:endParaRPr b="0" i="0" sz="3100" u="none" cap="none" strike="noStrike">
              <a:solidFill>
                <a:srgbClr val="C00000"/>
              </a:solidFill>
              <a:latin typeface="Times New Roman"/>
              <a:ea typeface="Times New Roman"/>
              <a:cs typeface="Times New Roman"/>
              <a:sym typeface="Times New Roman"/>
            </a:endParaRPr>
          </a:p>
        </p:txBody>
      </p:sp>
      <p:pic>
        <p:nvPicPr>
          <p:cNvPr id="189" name="Google Shape;189;p21"/>
          <p:cNvPicPr preferRelativeResize="0"/>
          <p:nvPr/>
        </p:nvPicPr>
        <p:blipFill rotWithShape="1">
          <a:blip r:embed="rId6">
            <a:alphaModFix/>
          </a:blip>
          <a:srcRect b="0" l="0" r="3661" t="0"/>
          <a:stretch/>
        </p:blipFill>
        <p:spPr>
          <a:xfrm>
            <a:off x="1385889" y="0"/>
            <a:ext cx="2576512" cy="919684"/>
          </a:xfrm>
          <a:prstGeom prst="rect">
            <a:avLst/>
          </a:prstGeom>
          <a:noFill/>
          <a:ln>
            <a:noFill/>
          </a:ln>
        </p:spPr>
      </p:pic>
      <p:sp>
        <p:nvSpPr>
          <p:cNvPr id="190" name="Google Shape;190;p21"/>
          <p:cNvSpPr txBox="1"/>
          <p:nvPr/>
        </p:nvSpPr>
        <p:spPr>
          <a:xfrm>
            <a:off x="1822000" y="2230900"/>
            <a:ext cx="9693600" cy="5541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sz="2400">
              <a:latin typeface="Times New Roman"/>
              <a:ea typeface="Times New Roman"/>
              <a:cs typeface="Times New Roman"/>
              <a:sym typeface="Times New Roman"/>
            </a:endParaRPr>
          </a:p>
        </p:txBody>
      </p:sp>
      <p:pic>
        <p:nvPicPr>
          <p:cNvPr id="191" name="Google Shape;191;p21"/>
          <p:cNvPicPr preferRelativeResize="0"/>
          <p:nvPr/>
        </p:nvPicPr>
        <p:blipFill rotWithShape="1">
          <a:blip r:embed="rId7">
            <a:alphaModFix/>
          </a:blip>
          <a:srcRect b="0" l="1893" r="0" t="0"/>
          <a:stretch/>
        </p:blipFill>
        <p:spPr>
          <a:xfrm>
            <a:off x="5001425" y="213650"/>
            <a:ext cx="6696974" cy="63159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p22"/>
          <p:cNvPicPr preferRelativeResize="0"/>
          <p:nvPr/>
        </p:nvPicPr>
        <p:blipFill rotWithShape="1">
          <a:blip r:embed="rId3">
            <a:alphaModFix/>
          </a:blip>
          <a:srcRect b="0" l="0" r="0" t="0"/>
          <a:stretch/>
        </p:blipFill>
        <p:spPr>
          <a:xfrm>
            <a:off x="600" y="-20450"/>
            <a:ext cx="566975" cy="6878452"/>
          </a:xfrm>
          <a:prstGeom prst="rect">
            <a:avLst/>
          </a:prstGeom>
          <a:noFill/>
          <a:ln>
            <a:noFill/>
          </a:ln>
        </p:spPr>
      </p:pic>
      <p:pic>
        <p:nvPicPr>
          <p:cNvPr id="197" name="Google Shape;197;p22"/>
          <p:cNvPicPr preferRelativeResize="0"/>
          <p:nvPr/>
        </p:nvPicPr>
        <p:blipFill rotWithShape="1">
          <a:blip r:embed="rId4">
            <a:alphaModFix/>
          </a:blip>
          <a:srcRect b="0" l="0" r="0" t="0"/>
          <a:stretch/>
        </p:blipFill>
        <p:spPr>
          <a:xfrm>
            <a:off x="1089950" y="-20450"/>
            <a:ext cx="209675" cy="5461124"/>
          </a:xfrm>
          <a:prstGeom prst="rect">
            <a:avLst/>
          </a:prstGeom>
          <a:noFill/>
          <a:ln>
            <a:noFill/>
          </a:ln>
        </p:spPr>
      </p:pic>
      <p:pic>
        <p:nvPicPr>
          <p:cNvPr id="198" name="Google Shape;198;p22"/>
          <p:cNvPicPr preferRelativeResize="0"/>
          <p:nvPr/>
        </p:nvPicPr>
        <p:blipFill rotWithShape="1">
          <a:blip r:embed="rId5">
            <a:alphaModFix/>
          </a:blip>
          <a:srcRect b="0" l="0" r="0" t="0"/>
          <a:stretch/>
        </p:blipFill>
        <p:spPr>
          <a:xfrm>
            <a:off x="531389" y="-20457"/>
            <a:ext cx="566958" cy="5461138"/>
          </a:xfrm>
          <a:prstGeom prst="rect">
            <a:avLst/>
          </a:prstGeom>
          <a:noFill/>
          <a:ln>
            <a:noFill/>
          </a:ln>
        </p:spPr>
      </p:pic>
      <p:sp>
        <p:nvSpPr>
          <p:cNvPr id="199" name="Google Shape;199;p22"/>
          <p:cNvSpPr txBox="1"/>
          <p:nvPr>
            <p:ph type="ctrTitle"/>
          </p:nvPr>
        </p:nvSpPr>
        <p:spPr>
          <a:xfrm>
            <a:off x="8257406" y="2740265"/>
            <a:ext cx="3733500" cy="2331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endParaRPr sz="2400">
              <a:solidFill>
                <a:srgbClr val="C00000"/>
              </a:solidFill>
            </a:endParaRPr>
          </a:p>
        </p:txBody>
      </p:sp>
      <p:sp>
        <p:nvSpPr>
          <p:cNvPr id="200" name="Google Shape;200;p22"/>
          <p:cNvSpPr txBox="1"/>
          <p:nvPr/>
        </p:nvSpPr>
        <p:spPr>
          <a:xfrm>
            <a:off x="1522072" y="1409599"/>
            <a:ext cx="6373800" cy="520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100"/>
              <a:buFont typeface="Arial"/>
              <a:buNone/>
            </a:pPr>
            <a:r>
              <a:rPr b="1" lang="en-IN" sz="3100">
                <a:solidFill>
                  <a:srgbClr val="C00000"/>
                </a:solidFill>
                <a:latin typeface="Times New Roman"/>
                <a:ea typeface="Times New Roman"/>
                <a:cs typeface="Times New Roman"/>
                <a:sym typeface="Times New Roman"/>
              </a:rPr>
              <a:t>Literature </a:t>
            </a:r>
            <a:r>
              <a:rPr b="1" lang="en-IN" sz="3100">
                <a:solidFill>
                  <a:srgbClr val="C00000"/>
                </a:solidFill>
                <a:latin typeface="Times New Roman"/>
                <a:ea typeface="Times New Roman"/>
                <a:cs typeface="Times New Roman"/>
                <a:sym typeface="Times New Roman"/>
              </a:rPr>
              <a:t>Survey</a:t>
            </a:r>
            <a:endParaRPr b="0" i="0" sz="3100" u="none" cap="none" strike="noStrike">
              <a:solidFill>
                <a:srgbClr val="C00000"/>
              </a:solidFill>
              <a:latin typeface="Times New Roman"/>
              <a:ea typeface="Times New Roman"/>
              <a:cs typeface="Times New Roman"/>
              <a:sym typeface="Times New Roman"/>
            </a:endParaRPr>
          </a:p>
        </p:txBody>
      </p:sp>
      <p:pic>
        <p:nvPicPr>
          <p:cNvPr id="201" name="Google Shape;201;p22"/>
          <p:cNvPicPr preferRelativeResize="0"/>
          <p:nvPr/>
        </p:nvPicPr>
        <p:blipFill rotWithShape="1">
          <a:blip r:embed="rId6">
            <a:alphaModFix/>
          </a:blip>
          <a:srcRect b="0" l="0" r="3661" t="0"/>
          <a:stretch/>
        </p:blipFill>
        <p:spPr>
          <a:xfrm>
            <a:off x="1385889" y="0"/>
            <a:ext cx="2576512" cy="919684"/>
          </a:xfrm>
          <a:prstGeom prst="rect">
            <a:avLst/>
          </a:prstGeom>
          <a:noFill/>
          <a:ln>
            <a:noFill/>
          </a:ln>
        </p:spPr>
      </p:pic>
      <p:sp>
        <p:nvSpPr>
          <p:cNvPr id="202" name="Google Shape;202;p22"/>
          <p:cNvSpPr txBox="1"/>
          <p:nvPr/>
        </p:nvSpPr>
        <p:spPr>
          <a:xfrm>
            <a:off x="1522075" y="2095538"/>
            <a:ext cx="9993600" cy="9234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IN" sz="2400" u="sng">
                <a:solidFill>
                  <a:schemeClr val="hlink"/>
                </a:solidFill>
                <a:latin typeface="Times New Roman"/>
                <a:ea typeface="Times New Roman"/>
                <a:cs typeface="Times New Roman"/>
                <a:sym typeface="Times New Roman"/>
                <a:hlinkClick r:id="rId7"/>
              </a:rPr>
              <a:t>https://docs.google.com/spreadsheets/d/1MUUpS64sf2rnp07iBJgUQPzNiMzazRbCKnqUYN1BfAo/edit?usp=sharing</a:t>
            </a:r>
            <a:endParaRPr sz="2400">
              <a:latin typeface="Times New Roman"/>
              <a:ea typeface="Times New Roman"/>
              <a:cs typeface="Times New Roman"/>
              <a:sym typeface="Times New Roman"/>
            </a:endParaRPr>
          </a:p>
        </p:txBody>
      </p:sp>
      <p:pic>
        <p:nvPicPr>
          <p:cNvPr id="203" name="Google Shape;203;p22"/>
          <p:cNvPicPr preferRelativeResize="0"/>
          <p:nvPr/>
        </p:nvPicPr>
        <p:blipFill>
          <a:blip r:embed="rId8">
            <a:alphaModFix/>
          </a:blip>
          <a:stretch>
            <a:fillRect/>
          </a:stretch>
        </p:blipFill>
        <p:spPr>
          <a:xfrm>
            <a:off x="1385900" y="3184400"/>
            <a:ext cx="10660925" cy="27983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p23"/>
          <p:cNvPicPr preferRelativeResize="0"/>
          <p:nvPr/>
        </p:nvPicPr>
        <p:blipFill rotWithShape="1">
          <a:blip r:embed="rId3">
            <a:alphaModFix/>
          </a:blip>
          <a:srcRect b="0" l="0" r="0" t="0"/>
          <a:stretch/>
        </p:blipFill>
        <p:spPr>
          <a:xfrm>
            <a:off x="600" y="-20450"/>
            <a:ext cx="566975" cy="6878452"/>
          </a:xfrm>
          <a:prstGeom prst="rect">
            <a:avLst/>
          </a:prstGeom>
          <a:noFill/>
          <a:ln>
            <a:noFill/>
          </a:ln>
        </p:spPr>
      </p:pic>
      <p:pic>
        <p:nvPicPr>
          <p:cNvPr id="209" name="Google Shape;209;p23"/>
          <p:cNvPicPr preferRelativeResize="0"/>
          <p:nvPr/>
        </p:nvPicPr>
        <p:blipFill rotWithShape="1">
          <a:blip r:embed="rId4">
            <a:alphaModFix/>
          </a:blip>
          <a:srcRect b="0" l="0" r="0" t="0"/>
          <a:stretch/>
        </p:blipFill>
        <p:spPr>
          <a:xfrm>
            <a:off x="1089950" y="-20450"/>
            <a:ext cx="209675" cy="5461124"/>
          </a:xfrm>
          <a:prstGeom prst="rect">
            <a:avLst/>
          </a:prstGeom>
          <a:noFill/>
          <a:ln>
            <a:noFill/>
          </a:ln>
        </p:spPr>
      </p:pic>
      <p:pic>
        <p:nvPicPr>
          <p:cNvPr id="210" name="Google Shape;210;p23"/>
          <p:cNvPicPr preferRelativeResize="0"/>
          <p:nvPr/>
        </p:nvPicPr>
        <p:blipFill rotWithShape="1">
          <a:blip r:embed="rId5">
            <a:alphaModFix/>
          </a:blip>
          <a:srcRect b="0" l="0" r="0" t="0"/>
          <a:stretch/>
        </p:blipFill>
        <p:spPr>
          <a:xfrm>
            <a:off x="531389" y="-20457"/>
            <a:ext cx="566958" cy="5461138"/>
          </a:xfrm>
          <a:prstGeom prst="rect">
            <a:avLst/>
          </a:prstGeom>
          <a:noFill/>
          <a:ln>
            <a:noFill/>
          </a:ln>
        </p:spPr>
      </p:pic>
      <p:sp>
        <p:nvSpPr>
          <p:cNvPr id="211" name="Google Shape;211;p23"/>
          <p:cNvSpPr txBox="1"/>
          <p:nvPr>
            <p:ph type="ctrTitle"/>
          </p:nvPr>
        </p:nvSpPr>
        <p:spPr>
          <a:xfrm>
            <a:off x="8257406" y="2740265"/>
            <a:ext cx="3733500" cy="2331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endParaRPr sz="2400">
              <a:solidFill>
                <a:srgbClr val="C00000"/>
              </a:solidFill>
            </a:endParaRPr>
          </a:p>
        </p:txBody>
      </p:sp>
      <p:sp>
        <p:nvSpPr>
          <p:cNvPr id="212" name="Google Shape;212;p23"/>
          <p:cNvSpPr txBox="1"/>
          <p:nvPr/>
        </p:nvSpPr>
        <p:spPr>
          <a:xfrm>
            <a:off x="1534696" y="1603661"/>
            <a:ext cx="7862521" cy="520561"/>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100"/>
              <a:buFont typeface="Arial"/>
              <a:buNone/>
            </a:pPr>
            <a:r>
              <a:rPr b="1" i="0" lang="en-IN" sz="3100" u="none" cap="none" strike="noStrike">
                <a:solidFill>
                  <a:srgbClr val="C00000"/>
                </a:solidFill>
                <a:latin typeface="Times New Roman"/>
                <a:ea typeface="Times New Roman"/>
                <a:cs typeface="Times New Roman"/>
                <a:sym typeface="Times New Roman"/>
              </a:rPr>
              <a:t>Conclusion</a:t>
            </a:r>
            <a:endParaRPr b="0" i="0" sz="3100" u="none" cap="none" strike="noStrike">
              <a:solidFill>
                <a:srgbClr val="C00000"/>
              </a:solidFill>
              <a:latin typeface="Times New Roman"/>
              <a:ea typeface="Times New Roman"/>
              <a:cs typeface="Times New Roman"/>
              <a:sym typeface="Times New Roman"/>
            </a:endParaRPr>
          </a:p>
        </p:txBody>
      </p:sp>
      <p:pic>
        <p:nvPicPr>
          <p:cNvPr id="213" name="Google Shape;213;p23"/>
          <p:cNvPicPr preferRelativeResize="0"/>
          <p:nvPr/>
        </p:nvPicPr>
        <p:blipFill rotWithShape="1">
          <a:blip r:embed="rId6">
            <a:alphaModFix/>
          </a:blip>
          <a:srcRect b="0" l="0" r="3663" t="0"/>
          <a:stretch/>
        </p:blipFill>
        <p:spPr>
          <a:xfrm>
            <a:off x="1385889" y="0"/>
            <a:ext cx="2576512" cy="919684"/>
          </a:xfrm>
          <a:prstGeom prst="rect">
            <a:avLst/>
          </a:prstGeom>
          <a:noFill/>
          <a:ln>
            <a:noFill/>
          </a:ln>
        </p:spPr>
      </p:pic>
      <p:sp>
        <p:nvSpPr>
          <p:cNvPr id="214" name="Google Shape;214;p23"/>
          <p:cNvSpPr txBox="1"/>
          <p:nvPr/>
        </p:nvSpPr>
        <p:spPr>
          <a:xfrm>
            <a:off x="1822000" y="2497725"/>
            <a:ext cx="9555900" cy="38634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SzPts val="2000"/>
              <a:buFont typeface="Times New Roman"/>
              <a:buChar char="●"/>
            </a:pPr>
            <a:r>
              <a:rPr lang="en-IN" sz="2000">
                <a:latin typeface="Times New Roman"/>
                <a:ea typeface="Times New Roman"/>
                <a:cs typeface="Times New Roman"/>
                <a:sym typeface="Times New Roman"/>
              </a:rPr>
              <a:t>This project presents an  platform that performs data preprocessing and model selection for real-world datasets.</a:t>
            </a:r>
            <a:endParaRPr sz="2000">
              <a:latin typeface="Times New Roman"/>
              <a:ea typeface="Times New Roman"/>
              <a:cs typeface="Times New Roman"/>
              <a:sym typeface="Times New Roman"/>
            </a:endParaRPr>
          </a:p>
          <a:p>
            <a:pPr indent="0" lvl="0" marL="457200" rtl="0" algn="l">
              <a:spcBef>
                <a:spcPts val="0"/>
              </a:spcBef>
              <a:spcAft>
                <a:spcPts val="0"/>
              </a:spcAft>
              <a:buNone/>
            </a:pPr>
            <a:r>
              <a:t/>
            </a:r>
            <a:endParaRPr sz="2000">
              <a:latin typeface="Times New Roman"/>
              <a:ea typeface="Times New Roman"/>
              <a:cs typeface="Times New Roman"/>
              <a:sym typeface="Times New Roman"/>
            </a:endParaRPr>
          </a:p>
          <a:p>
            <a:pPr indent="-355600" lvl="0" marL="457200" rtl="0" algn="l">
              <a:spcBef>
                <a:spcPts val="0"/>
              </a:spcBef>
              <a:spcAft>
                <a:spcPts val="0"/>
              </a:spcAft>
              <a:buSzPts val="2000"/>
              <a:buFont typeface="Times New Roman"/>
              <a:buChar char="●"/>
            </a:pPr>
            <a:r>
              <a:rPr lang="en-IN" sz="2000">
                <a:latin typeface="Times New Roman"/>
                <a:ea typeface="Times New Roman"/>
                <a:cs typeface="Times New Roman"/>
                <a:sym typeface="Times New Roman"/>
              </a:rPr>
              <a:t>By analyzing data characteristics, the system applies techniques such as PCA or feature selection to improve model performance based on users preference.</a:t>
            </a:r>
            <a:endParaRPr sz="2000">
              <a:latin typeface="Times New Roman"/>
              <a:ea typeface="Times New Roman"/>
              <a:cs typeface="Times New Roman"/>
              <a:sym typeface="Times New Roman"/>
            </a:endParaRPr>
          </a:p>
          <a:p>
            <a:pPr indent="0" lvl="0" marL="457200" rtl="0" algn="l">
              <a:spcBef>
                <a:spcPts val="0"/>
              </a:spcBef>
              <a:spcAft>
                <a:spcPts val="0"/>
              </a:spcAft>
              <a:buNone/>
            </a:pPr>
            <a:r>
              <a:t/>
            </a:r>
            <a:endParaRPr sz="2000">
              <a:latin typeface="Times New Roman"/>
              <a:ea typeface="Times New Roman"/>
              <a:cs typeface="Times New Roman"/>
              <a:sym typeface="Times New Roman"/>
            </a:endParaRPr>
          </a:p>
          <a:p>
            <a:pPr indent="-355600" lvl="0" marL="457200" rtl="0" algn="l">
              <a:spcBef>
                <a:spcPts val="0"/>
              </a:spcBef>
              <a:spcAft>
                <a:spcPts val="0"/>
              </a:spcAft>
              <a:buSzPts val="2000"/>
              <a:buFont typeface="Times New Roman"/>
              <a:buChar char="●"/>
            </a:pPr>
            <a:r>
              <a:rPr lang="en-IN" sz="2000">
                <a:latin typeface="Times New Roman"/>
                <a:ea typeface="Times New Roman"/>
                <a:cs typeface="Times New Roman"/>
                <a:sym typeface="Times New Roman"/>
              </a:rPr>
              <a:t>The platform reduces dependency on machine learning expertise while enabling faster and more accurate decision-making.</a:t>
            </a:r>
            <a:endParaRPr sz="2000">
              <a:latin typeface="Times New Roman"/>
              <a:ea typeface="Times New Roman"/>
              <a:cs typeface="Times New Roman"/>
              <a:sym typeface="Times New Roman"/>
            </a:endParaRPr>
          </a:p>
          <a:p>
            <a:pPr indent="0" lvl="0" marL="457200" rtl="0" algn="l">
              <a:spcBef>
                <a:spcPts val="0"/>
              </a:spcBef>
              <a:spcAft>
                <a:spcPts val="0"/>
              </a:spcAft>
              <a:buNone/>
            </a:pPr>
            <a:r>
              <a:t/>
            </a:r>
            <a:endParaRPr sz="2000">
              <a:latin typeface="Times New Roman"/>
              <a:ea typeface="Times New Roman"/>
              <a:cs typeface="Times New Roman"/>
              <a:sym typeface="Times New Roman"/>
            </a:endParaRPr>
          </a:p>
          <a:p>
            <a:pPr indent="-355600" lvl="0" marL="457200" rtl="0" algn="l">
              <a:spcBef>
                <a:spcPts val="0"/>
              </a:spcBef>
              <a:spcAft>
                <a:spcPts val="0"/>
              </a:spcAft>
              <a:buSzPts val="2000"/>
              <a:buFont typeface="Times New Roman"/>
              <a:buChar char="●"/>
            </a:pPr>
            <a:r>
              <a:rPr lang="en-IN" sz="2000">
                <a:latin typeface="Times New Roman"/>
                <a:ea typeface="Times New Roman"/>
                <a:cs typeface="Times New Roman"/>
                <a:sym typeface="Times New Roman"/>
              </a:rPr>
              <a:t>Overall, the solution provides a practical, scalable, and deployable approach to real-time data analysis for academic and business use.</a:t>
            </a:r>
            <a:endParaRPr sz="2000">
              <a:latin typeface="Times New Roman"/>
              <a:ea typeface="Times New Roman"/>
              <a:cs typeface="Times New Roman"/>
              <a:sym typeface="Times New Roman"/>
            </a:endParaRPr>
          </a:p>
          <a:p>
            <a:pPr indent="0" lvl="0" marL="0" rtl="0" algn="l">
              <a:spcBef>
                <a:spcPts val="0"/>
              </a:spcBef>
              <a:spcAft>
                <a:spcPts val="0"/>
              </a:spcAft>
              <a:buNone/>
            </a:pPr>
            <a:r>
              <a:t/>
            </a:r>
            <a:endParaRPr sz="19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id="219" name="Google Shape;219;p24"/>
          <p:cNvPicPr preferRelativeResize="0"/>
          <p:nvPr/>
        </p:nvPicPr>
        <p:blipFill rotWithShape="1">
          <a:blip r:embed="rId3">
            <a:alphaModFix/>
          </a:blip>
          <a:srcRect b="0" l="0" r="0" t="0"/>
          <a:stretch/>
        </p:blipFill>
        <p:spPr>
          <a:xfrm>
            <a:off x="600" y="-20450"/>
            <a:ext cx="566975" cy="6878452"/>
          </a:xfrm>
          <a:prstGeom prst="rect">
            <a:avLst/>
          </a:prstGeom>
          <a:noFill/>
          <a:ln>
            <a:noFill/>
          </a:ln>
        </p:spPr>
      </p:pic>
      <p:pic>
        <p:nvPicPr>
          <p:cNvPr id="220" name="Google Shape;220;p24"/>
          <p:cNvPicPr preferRelativeResize="0"/>
          <p:nvPr/>
        </p:nvPicPr>
        <p:blipFill rotWithShape="1">
          <a:blip r:embed="rId4">
            <a:alphaModFix/>
          </a:blip>
          <a:srcRect b="0" l="0" r="0" t="0"/>
          <a:stretch/>
        </p:blipFill>
        <p:spPr>
          <a:xfrm>
            <a:off x="1089950" y="-20450"/>
            <a:ext cx="209675" cy="5461124"/>
          </a:xfrm>
          <a:prstGeom prst="rect">
            <a:avLst/>
          </a:prstGeom>
          <a:noFill/>
          <a:ln>
            <a:noFill/>
          </a:ln>
        </p:spPr>
      </p:pic>
      <p:pic>
        <p:nvPicPr>
          <p:cNvPr id="221" name="Google Shape;221;p24"/>
          <p:cNvPicPr preferRelativeResize="0"/>
          <p:nvPr/>
        </p:nvPicPr>
        <p:blipFill rotWithShape="1">
          <a:blip r:embed="rId5">
            <a:alphaModFix/>
          </a:blip>
          <a:srcRect b="0" l="0" r="0" t="0"/>
          <a:stretch/>
        </p:blipFill>
        <p:spPr>
          <a:xfrm>
            <a:off x="531389" y="-20457"/>
            <a:ext cx="566958" cy="5461138"/>
          </a:xfrm>
          <a:prstGeom prst="rect">
            <a:avLst/>
          </a:prstGeom>
          <a:noFill/>
          <a:ln>
            <a:noFill/>
          </a:ln>
        </p:spPr>
      </p:pic>
      <p:sp>
        <p:nvSpPr>
          <p:cNvPr id="222" name="Google Shape;222;p24"/>
          <p:cNvSpPr txBox="1"/>
          <p:nvPr>
            <p:ph type="ctrTitle"/>
          </p:nvPr>
        </p:nvSpPr>
        <p:spPr>
          <a:xfrm>
            <a:off x="8257406" y="2740265"/>
            <a:ext cx="3733500" cy="2331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br>
              <a:rPr b="1" lang="en-IN" sz="2400">
                <a:solidFill>
                  <a:srgbClr val="C00000"/>
                </a:solidFill>
                <a:latin typeface="Times New Roman"/>
                <a:ea typeface="Times New Roman"/>
                <a:cs typeface="Times New Roman"/>
                <a:sym typeface="Times New Roman"/>
              </a:rPr>
            </a:br>
            <a:endParaRPr sz="2400">
              <a:solidFill>
                <a:srgbClr val="C00000"/>
              </a:solidFill>
            </a:endParaRPr>
          </a:p>
        </p:txBody>
      </p:sp>
      <p:sp>
        <p:nvSpPr>
          <p:cNvPr id="223" name="Google Shape;223;p24"/>
          <p:cNvSpPr txBox="1"/>
          <p:nvPr/>
        </p:nvSpPr>
        <p:spPr>
          <a:xfrm>
            <a:off x="4014558" y="2902828"/>
            <a:ext cx="4162883" cy="1052343"/>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100"/>
              <a:buFont typeface="Arial"/>
              <a:buNone/>
            </a:pPr>
            <a:r>
              <a:rPr b="1" i="0" lang="en-IN" sz="6000" u="none" cap="none" strike="noStrike">
                <a:solidFill>
                  <a:srgbClr val="FF0000"/>
                </a:solidFill>
                <a:latin typeface="Times New Roman"/>
                <a:ea typeface="Times New Roman"/>
                <a:cs typeface="Times New Roman"/>
                <a:sym typeface="Times New Roman"/>
              </a:rPr>
              <a:t>Thank You</a:t>
            </a:r>
            <a:endParaRPr b="0" i="0" sz="6000" u="none" cap="none" strike="noStrike">
              <a:solidFill>
                <a:srgbClr val="FF0000"/>
              </a:solidFill>
              <a:latin typeface="Times New Roman"/>
              <a:ea typeface="Times New Roman"/>
              <a:cs typeface="Times New Roman"/>
              <a:sym typeface="Times New Roman"/>
            </a:endParaRPr>
          </a:p>
        </p:txBody>
      </p:sp>
      <p:pic>
        <p:nvPicPr>
          <p:cNvPr id="224" name="Google Shape;224;p24"/>
          <p:cNvPicPr preferRelativeResize="0"/>
          <p:nvPr/>
        </p:nvPicPr>
        <p:blipFill rotWithShape="1">
          <a:blip r:embed="rId6">
            <a:alphaModFix/>
          </a:blip>
          <a:srcRect b="0" l="0" r="3663" t="0"/>
          <a:stretch/>
        </p:blipFill>
        <p:spPr>
          <a:xfrm>
            <a:off x="1385889" y="0"/>
            <a:ext cx="2576512" cy="91968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Office Theme">
  <a:themeElements>
    <a:clrScheme name="Office Them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